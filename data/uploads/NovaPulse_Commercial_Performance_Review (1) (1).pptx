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D48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B2D48"/>
                </a:solidFill>
                <a:latin typeface="Calibri"/>
              </a:rPr>
              <a:t>Monthly Sales Units, Jan-23 to Dec-24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Sales (Units)</c:v>
                </c:pt>
              </c:strCache>
            </c:strRef>
          </c:tx>
          <c:spPr>
            <a:ln w="31750" cap="flat">
              <a:solidFill>
                <a:srgbClr val="0B2D48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B2D48"/>
              </a:solidFill>
              <a:ln w="9525" cap="flat">
                <a:solidFill>
                  <a:srgbClr val="0B2D48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Jan-23</c:v>
                </c:pt>
                <c:pt idx="1">
                  <c:v>Feb-23</c:v>
                </c:pt>
                <c:pt idx="2">
                  <c:v>Mar-23</c:v>
                </c:pt>
                <c:pt idx="3">
                  <c:v>Apr-23</c:v>
                </c:pt>
                <c:pt idx="4">
                  <c:v>May-23</c:v>
                </c:pt>
                <c:pt idx="5">
                  <c:v>Jun-23</c:v>
                </c:pt>
                <c:pt idx="6">
                  <c:v>Jul-23</c:v>
                </c:pt>
                <c:pt idx="7">
                  <c:v>Aug-23</c:v>
                </c:pt>
                <c:pt idx="8">
                  <c:v>Sep-23</c:v>
                </c:pt>
                <c:pt idx="9">
                  <c:v>Oct-23</c:v>
                </c:pt>
                <c:pt idx="10">
                  <c:v>Nov-23</c:v>
                </c:pt>
                <c:pt idx="11">
                  <c:v>Dec-23</c:v>
                </c:pt>
                <c:pt idx="12">
                  <c:v>Jan-24</c:v>
                </c:pt>
                <c:pt idx="13">
                  <c:v>Feb-24</c:v>
                </c:pt>
                <c:pt idx="14">
                  <c:v>Mar-24</c:v>
                </c:pt>
                <c:pt idx="15">
                  <c:v>Apr-24</c:v>
                </c:pt>
                <c:pt idx="16">
                  <c:v>May-24</c:v>
                </c:pt>
                <c:pt idx="17">
                  <c:v>Jun-24</c:v>
                </c:pt>
                <c:pt idx="18">
                  <c:v>Jul-24</c:v>
                </c:pt>
                <c:pt idx="19">
                  <c:v>Aug-24</c:v>
                </c:pt>
                <c:pt idx="20">
                  <c:v>Sep-24</c:v>
                </c:pt>
                <c:pt idx="21">
                  <c:v>Oct-24</c:v>
                </c:pt>
                <c:pt idx="22">
                  <c:v>Nov-24</c:v>
                </c:pt>
                <c:pt idx="23">
                  <c:v>Dec-24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4210</c:v>
                </c:pt>
                <c:pt idx="1">
                  <c:v>4380</c:v>
                </c:pt>
                <c:pt idx="2">
                  <c:v>4750</c:v>
                </c:pt>
                <c:pt idx="3">
                  <c:v>5020</c:v>
                </c:pt>
                <c:pt idx="4">
                  <c:v>5340</c:v>
                </c:pt>
                <c:pt idx="5">
                  <c:v>5580</c:v>
                </c:pt>
                <c:pt idx="6">
                  <c:v>5890</c:v>
                </c:pt>
                <c:pt idx="7">
                  <c:v>6100</c:v>
                </c:pt>
                <c:pt idx="8">
                  <c:v>5420</c:v>
                </c:pt>
                <c:pt idx="9">
                  <c:v>5680</c:v>
                </c:pt>
                <c:pt idx="10">
                  <c:v>6250</c:v>
                </c:pt>
                <c:pt idx="11">
                  <c:v>7100</c:v>
                </c:pt>
                <c:pt idx="12">
                  <c:v>4300</c:v>
                </c:pt>
                <c:pt idx="13">
                  <c:v>8950</c:v>
                </c:pt>
                <c:pt idx="14">
                  <c:v>4880</c:v>
                </c:pt>
                <c:pt idx="15">
                  <c:v>5180</c:v>
                </c:pt>
                <c:pt idx="16">
                  <c:v>5520</c:v>
                </c:pt>
                <c:pt idx="17">
                  <c:v>5760</c:v>
                </c:pt>
                <c:pt idx="18">
                  <c:v>6050</c:v>
                </c:pt>
                <c:pt idx="19">
                  <c:v>6280</c:v>
                </c:pt>
                <c:pt idx="20">
                  <c:v>5750</c:v>
                </c:pt>
                <c:pt idx="21">
                  <c:v>5930</c:v>
                </c:pt>
                <c:pt idx="22">
                  <c:v>6480</c:v>
                </c:pt>
                <c:pt idx="23">
                  <c:v>7350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366-43BD-90B6-DD93ABB73B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0B2D48"/>
                </a:solidFill>
                <a:latin typeface="Calibri"/>
              </a:defRPr>
            </a:pPr>
            <a:r>
              <a:rPr lang="en-US" sz="1050" b="0" i="0" u="none" strike="noStrike">
                <a:solidFill>
                  <a:srgbClr val="0B2D48"/>
                </a:solidFill>
                <a:latin typeface="Calibri"/>
              </a:rPr>
              <a:t>2024 Paid Media Budget Share (%)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2024 Paid Media Budget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D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921-42CA-8205-B986528A01AB}"/>
              </c:ext>
            </c:extLst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921-42CA-8205-B986528A01AB}"/>
              </c:ext>
            </c:extLst>
          </c:dPt>
          <c:dPt>
            <c:idx val="2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921-42CA-8205-B986528A01AB}"/>
              </c:ext>
            </c:extLst>
          </c:dPt>
          <c:dLbls>
            <c:dLbl>
              <c:idx val="0"/>
              <c:numFmt formatCode="0.0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921-42CA-8205-B986528A01AB}"/>
                </c:ext>
              </c:extLst>
            </c:dLbl>
            <c:dLbl>
              <c:idx val="1"/>
              <c:numFmt formatCode="0.0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921-42CA-8205-B986528A01AB}"/>
                </c:ext>
              </c:extLst>
            </c:dLbl>
            <c:dLbl>
              <c:idx val="2"/>
              <c:numFmt formatCode="0.0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921-42CA-8205-B986528A01AB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TV</c:v>
                </c:pt>
                <c:pt idx="1">
                  <c:v>Digital</c:v>
                </c:pt>
                <c:pt idx="2">
                  <c:v>Paid Search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72.7</c:v>
                </c:pt>
                <c:pt idx="1">
                  <c:v>19.100000000000001</c:v>
                </c:pt>
                <c:pt idx="2">
                  <c:v>8.1999999999999993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921-42CA-8205-B986528A01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F2A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B2D48"/>
                </a:solidFill>
                <a:latin typeface="Calibri"/>
                <a:ea typeface="+mn-ea"/>
                <a:cs typeface="+mn-cs"/>
              </a:defRPr>
            </a:pPr>
            <a:r>
              <a:rPr lang="en-US" sz="1200" b="0" i="0" u="none" strike="noStrike">
                <a:solidFill>
                  <a:srgbClr val="0B2D48"/>
                </a:solidFill>
                <a:latin typeface="Calibri"/>
              </a:rPr>
              <a:t>MoM % Growth — Marketing Channels vs Sales (Feb-24 excluded)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0B2D48"/>
              </a:solidFill>
              <a:latin typeface="Calibri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Paid Search</c:v>
                </c:pt>
              </c:strCache>
            </c:strRef>
          </c:tx>
          <c:spPr>
            <a:ln w="19050" cap="rnd" cmpd="sng" algn="ctr">
              <a:solidFill>
                <a:schemeClr val="accent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Sheet1!$A$2:$A$23</c:f>
              <c:strCache>
                <c:ptCount val="22"/>
                <c:pt idx="0">
                  <c:v>Feb-23</c:v>
                </c:pt>
                <c:pt idx="1">
                  <c:v>Mar-23</c:v>
                </c:pt>
                <c:pt idx="2">
                  <c:v>Apr-23</c:v>
                </c:pt>
                <c:pt idx="3">
                  <c:v>May-23</c:v>
                </c:pt>
                <c:pt idx="4">
                  <c:v>Jun-23</c:v>
                </c:pt>
                <c:pt idx="5">
                  <c:v>Jul-23</c:v>
                </c:pt>
                <c:pt idx="6">
                  <c:v>Aug-23</c:v>
                </c:pt>
                <c:pt idx="7">
                  <c:v>Sep-23</c:v>
                </c:pt>
                <c:pt idx="8">
                  <c:v>Oct-23</c:v>
                </c:pt>
                <c:pt idx="9">
                  <c:v>Nov-23</c:v>
                </c:pt>
                <c:pt idx="10">
                  <c:v>Dec-23</c:v>
                </c:pt>
                <c:pt idx="11">
                  <c:v>Jan-24</c:v>
                </c:pt>
                <c:pt idx="12">
                  <c:v>Mar-24</c:v>
                </c:pt>
                <c:pt idx="13">
                  <c:v>Apr-24</c:v>
                </c:pt>
                <c:pt idx="14">
                  <c:v>May-24</c:v>
                </c:pt>
                <c:pt idx="15">
                  <c:v>Jun-24</c:v>
                </c:pt>
                <c:pt idx="16">
                  <c:v>Jul-24</c:v>
                </c:pt>
                <c:pt idx="17">
                  <c:v>Aug-24</c:v>
                </c:pt>
                <c:pt idx="18">
                  <c:v>Sep-24</c:v>
                </c:pt>
                <c:pt idx="19">
                  <c:v>Oct-24</c:v>
                </c:pt>
                <c:pt idx="20">
                  <c:v>Nov-24</c:v>
                </c:pt>
                <c:pt idx="21">
                  <c:v>Dec-24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3.2</c:v>
                </c:pt>
                <c:pt idx="1">
                  <c:v>4.0999999999999996</c:v>
                </c:pt>
                <c:pt idx="2">
                  <c:v>2.9</c:v>
                </c:pt>
                <c:pt idx="3">
                  <c:v>4.8</c:v>
                </c:pt>
                <c:pt idx="4">
                  <c:v>4.5</c:v>
                </c:pt>
                <c:pt idx="5">
                  <c:v>4.3</c:v>
                </c:pt>
                <c:pt idx="6">
                  <c:v>1.7</c:v>
                </c:pt>
                <c:pt idx="7">
                  <c:v>-9.8000000000000007</c:v>
                </c:pt>
                <c:pt idx="8">
                  <c:v>1.8</c:v>
                </c:pt>
                <c:pt idx="9">
                  <c:v>7.1</c:v>
                </c:pt>
                <c:pt idx="10">
                  <c:v>16.7</c:v>
                </c:pt>
                <c:pt idx="11">
                  <c:v>-31.4</c:v>
                </c:pt>
                <c:pt idx="12">
                  <c:v>7.3</c:v>
                </c:pt>
                <c:pt idx="13">
                  <c:v>2.9</c:v>
                </c:pt>
                <c:pt idx="14">
                  <c:v>4.7</c:v>
                </c:pt>
                <c:pt idx="15">
                  <c:v>4.5</c:v>
                </c:pt>
                <c:pt idx="16">
                  <c:v>4.3</c:v>
                </c:pt>
                <c:pt idx="17">
                  <c:v>2.5</c:v>
                </c:pt>
                <c:pt idx="18">
                  <c:v>-9.6999999999999993</c:v>
                </c:pt>
                <c:pt idx="19">
                  <c:v>0.9</c:v>
                </c:pt>
                <c:pt idx="20">
                  <c:v>8</c:v>
                </c:pt>
                <c:pt idx="21">
                  <c:v>16.399999999999999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6CF-485F-82EF-D3683B85713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Rep Calls</c:v>
                </c:pt>
              </c:strCache>
            </c:strRef>
          </c:tx>
          <c:spPr>
            <a:ln w="19050" cap="rnd" cmpd="sng" algn="ctr">
              <a:solidFill>
                <a:schemeClr val="accent5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Sheet1!$A$2:$A$23</c:f>
              <c:strCache>
                <c:ptCount val="22"/>
                <c:pt idx="0">
                  <c:v>Feb-23</c:v>
                </c:pt>
                <c:pt idx="1">
                  <c:v>Mar-23</c:v>
                </c:pt>
                <c:pt idx="2">
                  <c:v>Apr-23</c:v>
                </c:pt>
                <c:pt idx="3">
                  <c:v>May-23</c:v>
                </c:pt>
                <c:pt idx="4">
                  <c:v>Jun-23</c:v>
                </c:pt>
                <c:pt idx="5">
                  <c:v>Jul-23</c:v>
                </c:pt>
                <c:pt idx="6">
                  <c:v>Aug-23</c:v>
                </c:pt>
                <c:pt idx="7">
                  <c:v>Sep-23</c:v>
                </c:pt>
                <c:pt idx="8">
                  <c:v>Oct-23</c:v>
                </c:pt>
                <c:pt idx="9">
                  <c:v>Nov-23</c:v>
                </c:pt>
                <c:pt idx="10">
                  <c:v>Dec-23</c:v>
                </c:pt>
                <c:pt idx="11">
                  <c:v>Jan-24</c:v>
                </c:pt>
                <c:pt idx="12">
                  <c:v>Mar-24</c:v>
                </c:pt>
                <c:pt idx="13">
                  <c:v>Apr-24</c:v>
                </c:pt>
                <c:pt idx="14">
                  <c:v>May-24</c:v>
                </c:pt>
                <c:pt idx="15">
                  <c:v>Jun-24</c:v>
                </c:pt>
                <c:pt idx="16">
                  <c:v>Jul-24</c:v>
                </c:pt>
                <c:pt idx="17">
                  <c:v>Aug-24</c:v>
                </c:pt>
                <c:pt idx="18">
                  <c:v>Sep-24</c:v>
                </c:pt>
                <c:pt idx="19">
                  <c:v>Oct-24</c:v>
                </c:pt>
                <c:pt idx="20">
                  <c:v>Nov-24</c:v>
                </c:pt>
                <c:pt idx="21">
                  <c:v>Dec-24</c:v>
                </c:pt>
              </c:strCache>
            </c:strRef>
          </c:cat>
          <c:val>
            <c:numRef>
              <c:f>Sheet1!$F$2:$F$23</c:f>
              <c:numCache>
                <c:formatCode>General</c:formatCode>
                <c:ptCount val="22"/>
                <c:pt idx="0">
                  <c:v>3.2</c:v>
                </c:pt>
                <c:pt idx="1">
                  <c:v>4.7</c:v>
                </c:pt>
                <c:pt idx="2">
                  <c:v>3</c:v>
                </c:pt>
                <c:pt idx="3">
                  <c:v>2.9</c:v>
                </c:pt>
                <c:pt idx="4">
                  <c:v>1.4</c:v>
                </c:pt>
                <c:pt idx="5">
                  <c:v>2.8</c:v>
                </c:pt>
                <c:pt idx="6">
                  <c:v>1.4</c:v>
                </c:pt>
                <c:pt idx="7">
                  <c:v>-9.3000000000000007</c:v>
                </c:pt>
                <c:pt idx="8">
                  <c:v>2.4</c:v>
                </c:pt>
                <c:pt idx="9">
                  <c:v>4.9000000000000004</c:v>
                </c:pt>
                <c:pt idx="10">
                  <c:v>8.1999999999999993</c:v>
                </c:pt>
                <c:pt idx="11">
                  <c:v>-21</c:v>
                </c:pt>
                <c:pt idx="12">
                  <c:v>8.3000000000000007</c:v>
                </c:pt>
                <c:pt idx="13">
                  <c:v>3.6</c:v>
                </c:pt>
                <c:pt idx="14">
                  <c:v>2.9</c:v>
                </c:pt>
                <c:pt idx="15">
                  <c:v>1.7</c:v>
                </c:pt>
                <c:pt idx="16">
                  <c:v>2.5</c:v>
                </c:pt>
                <c:pt idx="17">
                  <c:v>1.3</c:v>
                </c:pt>
                <c:pt idx="18">
                  <c:v>-8.4</c:v>
                </c:pt>
                <c:pt idx="19">
                  <c:v>1.1000000000000001</c:v>
                </c:pt>
                <c:pt idx="20">
                  <c:v>5.0999999999999996</c:v>
                </c:pt>
                <c:pt idx="21">
                  <c:v>8.1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6CF-485F-82EF-D3683B857134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Sales</c:v>
                </c:pt>
              </c:strCache>
            </c:strRef>
          </c:tx>
          <c:spPr>
            <a:ln w="19050" cap="rnd" cmpd="sng" algn="ctr">
              <a:solidFill>
                <a:schemeClr val="accent6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Sheet1!$A$2:$A$23</c:f>
              <c:strCache>
                <c:ptCount val="22"/>
                <c:pt idx="0">
                  <c:v>Feb-23</c:v>
                </c:pt>
                <c:pt idx="1">
                  <c:v>Mar-23</c:v>
                </c:pt>
                <c:pt idx="2">
                  <c:v>Apr-23</c:v>
                </c:pt>
                <c:pt idx="3">
                  <c:v>May-23</c:v>
                </c:pt>
                <c:pt idx="4">
                  <c:v>Jun-23</c:v>
                </c:pt>
                <c:pt idx="5">
                  <c:v>Jul-23</c:v>
                </c:pt>
                <c:pt idx="6">
                  <c:v>Aug-23</c:v>
                </c:pt>
                <c:pt idx="7">
                  <c:v>Sep-23</c:v>
                </c:pt>
                <c:pt idx="8">
                  <c:v>Oct-23</c:v>
                </c:pt>
                <c:pt idx="9">
                  <c:v>Nov-23</c:v>
                </c:pt>
                <c:pt idx="10">
                  <c:v>Dec-23</c:v>
                </c:pt>
                <c:pt idx="11">
                  <c:v>Jan-24</c:v>
                </c:pt>
                <c:pt idx="12">
                  <c:v>Mar-24</c:v>
                </c:pt>
                <c:pt idx="13">
                  <c:v>Apr-24</c:v>
                </c:pt>
                <c:pt idx="14">
                  <c:v>May-24</c:v>
                </c:pt>
                <c:pt idx="15">
                  <c:v>Jun-24</c:v>
                </c:pt>
                <c:pt idx="16">
                  <c:v>Jul-24</c:v>
                </c:pt>
                <c:pt idx="17">
                  <c:v>Aug-24</c:v>
                </c:pt>
                <c:pt idx="18">
                  <c:v>Sep-24</c:v>
                </c:pt>
                <c:pt idx="19">
                  <c:v>Oct-24</c:v>
                </c:pt>
                <c:pt idx="20">
                  <c:v>Nov-24</c:v>
                </c:pt>
                <c:pt idx="21">
                  <c:v>Dec-24</c:v>
                </c:pt>
              </c:strCache>
            </c:strRef>
          </c:cat>
          <c:val>
            <c:numRef>
              <c:f>Sheet1!$G$2:$G$23</c:f>
              <c:numCache>
                <c:formatCode>General</c:formatCode>
                <c:ptCount val="22"/>
                <c:pt idx="0">
                  <c:v>4</c:v>
                </c:pt>
                <c:pt idx="1">
                  <c:v>8.4</c:v>
                </c:pt>
                <c:pt idx="2">
                  <c:v>5.7</c:v>
                </c:pt>
                <c:pt idx="3">
                  <c:v>6.4</c:v>
                </c:pt>
                <c:pt idx="4">
                  <c:v>4.5</c:v>
                </c:pt>
                <c:pt idx="5">
                  <c:v>5.6</c:v>
                </c:pt>
                <c:pt idx="6">
                  <c:v>3.6</c:v>
                </c:pt>
                <c:pt idx="7">
                  <c:v>-11.1</c:v>
                </c:pt>
                <c:pt idx="8">
                  <c:v>4.8</c:v>
                </c:pt>
                <c:pt idx="9">
                  <c:v>10</c:v>
                </c:pt>
                <c:pt idx="10">
                  <c:v>13.6</c:v>
                </c:pt>
                <c:pt idx="11">
                  <c:v>-39.4</c:v>
                </c:pt>
                <c:pt idx="12">
                  <c:v>13.5</c:v>
                </c:pt>
                <c:pt idx="13">
                  <c:v>6.1</c:v>
                </c:pt>
                <c:pt idx="14">
                  <c:v>6.6</c:v>
                </c:pt>
                <c:pt idx="15">
                  <c:v>4.3</c:v>
                </c:pt>
                <c:pt idx="16">
                  <c:v>5</c:v>
                </c:pt>
                <c:pt idx="17">
                  <c:v>3.8</c:v>
                </c:pt>
                <c:pt idx="18">
                  <c:v>-8.4</c:v>
                </c:pt>
                <c:pt idx="19">
                  <c:v>3.1</c:v>
                </c:pt>
                <c:pt idx="20">
                  <c:v>9.3000000000000007</c:v>
                </c:pt>
                <c:pt idx="21">
                  <c:v>13.4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66CF-485F-82EF-D3683B8571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TV</c:v>
                      </c:pt>
                    </c:strCache>
                  </c:strRef>
                </c:tx>
                <c:spPr>
                  <a:ln w="19050" cap="rnd" cmpd="sng" algn="ctr">
                    <a:solidFill>
                      <a:schemeClr val="accent1"/>
                    </a:solidFill>
                    <a:prstDash val="solid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Sheet1!$A$2:$A$23</c15:sqref>
                        </c15:formulaRef>
                      </c:ext>
                    </c:extLst>
                    <c:strCache>
                      <c:ptCount val="22"/>
                      <c:pt idx="0">
                        <c:v>Feb-23</c:v>
                      </c:pt>
                      <c:pt idx="1">
                        <c:v>Mar-23</c:v>
                      </c:pt>
                      <c:pt idx="2">
                        <c:v>Apr-23</c:v>
                      </c:pt>
                      <c:pt idx="3">
                        <c:v>May-23</c:v>
                      </c:pt>
                      <c:pt idx="4">
                        <c:v>Jun-23</c:v>
                      </c:pt>
                      <c:pt idx="5">
                        <c:v>Jul-23</c:v>
                      </c:pt>
                      <c:pt idx="6">
                        <c:v>Aug-23</c:v>
                      </c:pt>
                      <c:pt idx="7">
                        <c:v>Sep-23</c:v>
                      </c:pt>
                      <c:pt idx="8">
                        <c:v>Oct-23</c:v>
                      </c:pt>
                      <c:pt idx="9">
                        <c:v>Nov-23</c:v>
                      </c:pt>
                      <c:pt idx="10">
                        <c:v>Dec-23</c:v>
                      </c:pt>
                      <c:pt idx="11">
                        <c:v>Jan-24</c:v>
                      </c:pt>
                      <c:pt idx="12">
                        <c:v>Mar-24</c:v>
                      </c:pt>
                      <c:pt idx="13">
                        <c:v>Apr-24</c:v>
                      </c:pt>
                      <c:pt idx="14">
                        <c:v>May-24</c:v>
                      </c:pt>
                      <c:pt idx="15">
                        <c:v>Jun-24</c:v>
                      </c:pt>
                      <c:pt idx="16">
                        <c:v>Jul-24</c:v>
                      </c:pt>
                      <c:pt idx="17">
                        <c:v>Aug-24</c:v>
                      </c:pt>
                      <c:pt idx="18">
                        <c:v>Sep-24</c:v>
                      </c:pt>
                      <c:pt idx="19">
                        <c:v>Oct-24</c:v>
                      </c:pt>
                      <c:pt idx="20">
                        <c:v>Nov-24</c:v>
                      </c:pt>
                      <c:pt idx="21">
                        <c:v>Dec-24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Sheet1!$B$2:$B$23</c15:sqref>
                        </c15:formulaRef>
                      </c:ext>
                    </c:extLst>
                    <c:numCache>
                      <c:formatCode>General</c:formatCode>
                      <c:ptCount val="22"/>
                      <c:pt idx="0">
                        <c:v>3.5</c:v>
                      </c:pt>
                      <c:pt idx="1">
                        <c:v>4.5</c:v>
                      </c:pt>
                      <c:pt idx="2">
                        <c:v>3.3</c:v>
                      </c:pt>
                      <c:pt idx="3">
                        <c:v>3.2</c:v>
                      </c:pt>
                      <c:pt idx="4">
                        <c:v>4.0999999999999996</c:v>
                      </c:pt>
                      <c:pt idx="5">
                        <c:v>2.9</c:v>
                      </c:pt>
                      <c:pt idx="6">
                        <c:v>2.9</c:v>
                      </c:pt>
                      <c:pt idx="7">
                        <c:v>-12</c:v>
                      </c:pt>
                      <c:pt idx="8">
                        <c:v>2.1</c:v>
                      </c:pt>
                      <c:pt idx="9">
                        <c:v>8.1999999999999993</c:v>
                      </c:pt>
                      <c:pt idx="10">
                        <c:v>12.4</c:v>
                      </c:pt>
                      <c:pt idx="11">
                        <c:v>-27.1</c:v>
                      </c:pt>
                      <c:pt idx="12">
                        <c:v>9.3000000000000007</c:v>
                      </c:pt>
                      <c:pt idx="13">
                        <c:v>3.2</c:v>
                      </c:pt>
                      <c:pt idx="14">
                        <c:v>3.1</c:v>
                      </c:pt>
                      <c:pt idx="15">
                        <c:v>4</c:v>
                      </c:pt>
                      <c:pt idx="16">
                        <c:v>2.9</c:v>
                      </c:pt>
                      <c:pt idx="17">
                        <c:v>2.8</c:v>
                      </c:pt>
                      <c:pt idx="18">
                        <c:v>-10.9</c:v>
                      </c:pt>
                      <c:pt idx="19">
                        <c:v>1</c:v>
                      </c:pt>
                      <c:pt idx="20">
                        <c:v>8.1</c:v>
                      </c:pt>
                      <c:pt idx="21">
                        <c:v>12.1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66CF-485F-82EF-D3683B857134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Digital</c:v>
                      </c:pt>
                    </c:strCache>
                  </c:strRef>
                </c:tx>
                <c:spPr>
                  <a:ln w="19050" cap="rnd" cmpd="sng" algn="ctr">
                    <a:solidFill>
                      <a:schemeClr val="accent2"/>
                    </a:solidFill>
                    <a:prstDash val="solid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Sheet1!$A$2:$A$23</c15:sqref>
                        </c15:formulaRef>
                      </c:ext>
                    </c:extLst>
                    <c:strCache>
                      <c:ptCount val="22"/>
                      <c:pt idx="0">
                        <c:v>Feb-23</c:v>
                      </c:pt>
                      <c:pt idx="1">
                        <c:v>Mar-23</c:v>
                      </c:pt>
                      <c:pt idx="2">
                        <c:v>Apr-23</c:v>
                      </c:pt>
                      <c:pt idx="3">
                        <c:v>May-23</c:v>
                      </c:pt>
                      <c:pt idx="4">
                        <c:v>Jun-23</c:v>
                      </c:pt>
                      <c:pt idx="5">
                        <c:v>Jul-23</c:v>
                      </c:pt>
                      <c:pt idx="6">
                        <c:v>Aug-23</c:v>
                      </c:pt>
                      <c:pt idx="7">
                        <c:v>Sep-23</c:v>
                      </c:pt>
                      <c:pt idx="8">
                        <c:v>Oct-23</c:v>
                      </c:pt>
                      <c:pt idx="9">
                        <c:v>Nov-23</c:v>
                      </c:pt>
                      <c:pt idx="10">
                        <c:v>Dec-23</c:v>
                      </c:pt>
                      <c:pt idx="11">
                        <c:v>Jan-24</c:v>
                      </c:pt>
                      <c:pt idx="12">
                        <c:v>Mar-24</c:v>
                      </c:pt>
                      <c:pt idx="13">
                        <c:v>Apr-24</c:v>
                      </c:pt>
                      <c:pt idx="14">
                        <c:v>May-24</c:v>
                      </c:pt>
                      <c:pt idx="15">
                        <c:v>Jun-24</c:v>
                      </c:pt>
                      <c:pt idx="16">
                        <c:v>Jul-24</c:v>
                      </c:pt>
                      <c:pt idx="17">
                        <c:v>Aug-24</c:v>
                      </c:pt>
                      <c:pt idx="18">
                        <c:v>Sep-24</c:v>
                      </c:pt>
                      <c:pt idx="19">
                        <c:v>Oct-24</c:v>
                      </c:pt>
                      <c:pt idx="20">
                        <c:v>Nov-24</c:v>
                      </c:pt>
                      <c:pt idx="21">
                        <c:v>Dec-24</c:v>
                      </c:pt>
                    </c:strCache>
                  </c:str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Sheet1!$C$2:$C$23</c15:sqref>
                        </c15:formulaRef>
                      </c:ext>
                    </c:extLst>
                    <c:numCache>
                      <c:formatCode>General</c:formatCode>
                      <c:ptCount val="22"/>
                      <c:pt idx="0">
                        <c:v>4.5</c:v>
                      </c:pt>
                      <c:pt idx="1">
                        <c:v>4.3</c:v>
                      </c:pt>
                      <c:pt idx="2">
                        <c:v>4.2</c:v>
                      </c:pt>
                      <c:pt idx="3">
                        <c:v>4</c:v>
                      </c:pt>
                      <c:pt idx="4">
                        <c:v>3.8</c:v>
                      </c:pt>
                      <c:pt idx="5">
                        <c:v>3.7</c:v>
                      </c:pt>
                      <c:pt idx="6">
                        <c:v>1.8</c:v>
                      </c:pt>
                      <c:pt idx="7">
                        <c:v>-12.3</c:v>
                      </c:pt>
                      <c:pt idx="8">
                        <c:v>2</c:v>
                      </c:pt>
                      <c:pt idx="9">
                        <c:v>5.9</c:v>
                      </c:pt>
                      <c:pt idx="10">
                        <c:v>14.8</c:v>
                      </c:pt>
                      <c:pt idx="11">
                        <c:v>-27.4</c:v>
                      </c:pt>
                      <c:pt idx="12">
                        <c:v>8.9</c:v>
                      </c:pt>
                      <c:pt idx="13">
                        <c:v>4.0999999999999996</c:v>
                      </c:pt>
                      <c:pt idx="14">
                        <c:v>3.9</c:v>
                      </c:pt>
                      <c:pt idx="15">
                        <c:v>3.8</c:v>
                      </c:pt>
                      <c:pt idx="16">
                        <c:v>3.6</c:v>
                      </c:pt>
                      <c:pt idx="17">
                        <c:v>1.8</c:v>
                      </c:pt>
                      <c:pt idx="18">
                        <c:v>-10.3</c:v>
                      </c:pt>
                      <c:pt idx="19">
                        <c:v>0.8</c:v>
                      </c:pt>
                      <c:pt idx="20">
                        <c:v>5</c:v>
                      </c:pt>
                      <c:pt idx="21">
                        <c:v>14.5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66CF-485F-82EF-D3683B857134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Email</c:v>
                      </c:pt>
                    </c:strCache>
                  </c:strRef>
                </c:tx>
                <c:spPr>
                  <a:ln w="19050" cap="rnd" cmpd="sng" algn="ctr">
                    <a:solidFill>
                      <a:schemeClr val="accent4"/>
                    </a:solidFill>
                    <a:prstDash val="solid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Sheet1!$A$2:$A$23</c15:sqref>
                        </c15:formulaRef>
                      </c:ext>
                    </c:extLst>
                    <c:strCache>
                      <c:ptCount val="22"/>
                      <c:pt idx="0">
                        <c:v>Feb-23</c:v>
                      </c:pt>
                      <c:pt idx="1">
                        <c:v>Mar-23</c:v>
                      </c:pt>
                      <c:pt idx="2">
                        <c:v>Apr-23</c:v>
                      </c:pt>
                      <c:pt idx="3">
                        <c:v>May-23</c:v>
                      </c:pt>
                      <c:pt idx="4">
                        <c:v>Jun-23</c:v>
                      </c:pt>
                      <c:pt idx="5">
                        <c:v>Jul-23</c:v>
                      </c:pt>
                      <c:pt idx="6">
                        <c:v>Aug-23</c:v>
                      </c:pt>
                      <c:pt idx="7">
                        <c:v>Sep-23</c:v>
                      </c:pt>
                      <c:pt idx="8">
                        <c:v>Oct-23</c:v>
                      </c:pt>
                      <c:pt idx="9">
                        <c:v>Nov-23</c:v>
                      </c:pt>
                      <c:pt idx="10">
                        <c:v>Dec-23</c:v>
                      </c:pt>
                      <c:pt idx="11">
                        <c:v>Jan-24</c:v>
                      </c:pt>
                      <c:pt idx="12">
                        <c:v>Mar-24</c:v>
                      </c:pt>
                      <c:pt idx="13">
                        <c:v>Apr-24</c:v>
                      </c:pt>
                      <c:pt idx="14">
                        <c:v>May-24</c:v>
                      </c:pt>
                      <c:pt idx="15">
                        <c:v>Jun-24</c:v>
                      </c:pt>
                      <c:pt idx="16">
                        <c:v>Jul-24</c:v>
                      </c:pt>
                      <c:pt idx="17">
                        <c:v>Aug-24</c:v>
                      </c:pt>
                      <c:pt idx="18">
                        <c:v>Sep-24</c:v>
                      </c:pt>
                      <c:pt idx="19">
                        <c:v>Oct-24</c:v>
                      </c:pt>
                      <c:pt idx="20">
                        <c:v>Nov-24</c:v>
                      </c:pt>
                      <c:pt idx="21">
                        <c:v>Dec-24</c:v>
                      </c:pt>
                    </c:strCache>
                  </c:str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Sheet1!$E$2:$E$23</c15:sqref>
                        </c15:formulaRef>
                      </c:ext>
                    </c:extLst>
                    <c:numCache>
                      <c:formatCode>General</c:formatCode>
                      <c:ptCount val="22"/>
                      <c:pt idx="0">
                        <c:v>4.8</c:v>
                      </c:pt>
                      <c:pt idx="1">
                        <c:v>4.5</c:v>
                      </c:pt>
                      <c:pt idx="2">
                        <c:v>4.3</c:v>
                      </c:pt>
                      <c:pt idx="3">
                        <c:v>4.2</c:v>
                      </c:pt>
                      <c:pt idx="4">
                        <c:v>4</c:v>
                      </c:pt>
                      <c:pt idx="5">
                        <c:v>3.8</c:v>
                      </c:pt>
                      <c:pt idx="6">
                        <c:v>1.9</c:v>
                      </c:pt>
                      <c:pt idx="7">
                        <c:v>-7.3</c:v>
                      </c:pt>
                      <c:pt idx="8">
                        <c:v>2</c:v>
                      </c:pt>
                      <c:pt idx="9">
                        <c:v>5.8</c:v>
                      </c:pt>
                      <c:pt idx="10">
                        <c:v>12.7</c:v>
                      </c:pt>
                      <c:pt idx="11">
                        <c:v>-30.6</c:v>
                      </c:pt>
                      <c:pt idx="12">
                        <c:v>9.3000000000000007</c:v>
                      </c:pt>
                      <c:pt idx="13">
                        <c:v>4.3</c:v>
                      </c:pt>
                      <c:pt idx="14">
                        <c:v>4.0999999999999996</c:v>
                      </c:pt>
                      <c:pt idx="15">
                        <c:v>3.9</c:v>
                      </c:pt>
                      <c:pt idx="16">
                        <c:v>3.8</c:v>
                      </c:pt>
                      <c:pt idx="17">
                        <c:v>1.8</c:v>
                      </c:pt>
                      <c:pt idx="18">
                        <c:v>-7.1</c:v>
                      </c:pt>
                      <c:pt idx="19">
                        <c:v>1.9</c:v>
                      </c:pt>
                      <c:pt idx="20">
                        <c:v>5.7</c:v>
                      </c:pt>
                      <c:pt idx="21">
                        <c:v>12.5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66CF-485F-82EF-D3683B857134}"/>
                  </c:ext>
                </c:extLst>
              </c15:ser>
            </c15:filteredLineSeries>
          </c:ext>
        </c:extLst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2700000" spcFirstLastPara="1" vertOverflow="ellipsis" wrap="square" anchor="ctr" anchorCtr="1"/>
          <a:lstStyle/>
          <a:p>
            <a:pPr>
              <a:defRPr sz="700" b="0" i="0" u="none" strike="noStrike" kern="1200" baseline="0">
                <a:solidFill>
                  <a:srgbClr val="5B6B75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3E8EB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5B6B75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1F2A33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Sales (ex Feb-24, abs value)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Seasonality</c:v>
                </c:pt>
                <c:pt idx="1">
                  <c:v>Price</c:v>
                </c:pt>
                <c:pt idx="2">
                  <c:v>Competitor Pressure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0.96699999999999997</c:v>
                </c:pt>
                <c:pt idx="1">
                  <c:v>0.6</c:v>
                </c:pt>
                <c:pt idx="2">
                  <c:v>-0.1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15-4004-9B11-C3C8F9CD01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anchor="ctr" anchorCtr="0"/>
          <a:lstStyle/>
          <a:p>
            <a:pPr>
              <a:defRPr sz="100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0"/>
        <c:tickLblSkip val="1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517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7F9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D48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3291840"/>
            <a:ext cx="3108960" cy="3108960"/>
          </a:xfrm>
          <a:prstGeom prst="ellipse">
            <a:avLst/>
          </a:prstGeom>
          <a:solidFill>
            <a:srgbClr val="E8A33D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IQVIA  |  COMMERCIAL ANALYTICS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NovaPulse Commercial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Review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view of what is driving brand performance, what is not,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 next-cycle investment should be directed.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4892040"/>
            <a:ext cx="10972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Period: January 2023 – December 2024   |   Prepared for the NovaPulse Brand Team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 Calls, Paid Search, and Digital are NovaPulse's strongest levers — TV, despite the biggest budget, ranks last among costed channels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261975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  <a:effectLst>
            <a:outerShdw blurRad="76200" dist="25400" dir="5400000" algn="bl" rotWithShape="0">
              <a:srgbClr val="6B7B85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2039112"/>
            <a:ext cx="22905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+3.6%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2679192"/>
            <a:ext cx="22905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YoY growth once the Feb-24 data anomaly is normalized (headline reads +10.2%)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2988" y="1874520"/>
            <a:ext cx="261975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  <a:effectLst>
            <a:outerShdw blurRad="76200" dist="25400" dir="5400000" algn="bl" rotWithShape="0">
              <a:srgbClr val="6B7B85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7580" y="2039112"/>
            <a:ext cx="22905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 Calls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497580" y="2679192"/>
            <a:ext cx="22905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top-performing channel overall, ahead of Paid Search, Digital, Email, TV, and Webinar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08776" y="1874520"/>
            <a:ext cx="261975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  <a:effectLst>
            <a:outerShdw blurRad="76200" dist="25400" dir="5400000" algn="bl" rotWithShape="0">
              <a:srgbClr val="6B7B85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73368" y="2039112"/>
            <a:ext cx="22905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373368" y="2679192"/>
            <a:ext cx="22905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Seasonality's correlation with sales — the strongest external force, well ahead of price and competitor pressure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84564" y="1874520"/>
            <a:ext cx="261975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  <a:effectLst>
            <a:outerShdw blurRad="76200" dist="25400" dir="5400000" algn="bl" rotWithShape="0">
              <a:srgbClr val="6B7B85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49156" y="2039112"/>
            <a:ext cx="22905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3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of 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249156" y="2679192"/>
            <a:ext cx="22905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TV ranks among the three costed channels, despite holding 73% of paid media budget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11247120" cy="2057400"/>
          </a:xfrm>
          <a:prstGeom prst="roundRect">
            <a:avLst>
              <a:gd name="adj" fmla="val 3556"/>
            </a:avLst>
          </a:prstGeom>
          <a:solidFill>
            <a:srgbClr val="E7F0F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589788" y="4251960"/>
            <a:ext cx="5362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STEPS: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36517" y="4709160"/>
            <a:ext cx="10555483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Feb-24 anomaly.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phased test: trim TV toward Paid Search.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Rep Calls and Webinar activity.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the pattern of cutting spend during competitive months.</a:t>
            </a:r>
            <a:endParaRPr lang="en-US" sz="1400" b="1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NovaPulse Commercial Performance Review  |  Confidential – Client Working Draft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CONTEXT AND ISSUE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brand team needs a structured, evidence-based view before committing next cycle's budget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031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2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2569464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4688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NovaPulse competes in a moderately crowded therapeutic category in India.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" y="3438144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375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engine spans TV, digital display, paid search, email, field-force detailing, and webinars.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" y="4306824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2062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has continued fairly steadily across FY23–FY24, alongside month-to-month shifts in pricing, seasonality, and competitor promotional intensity.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" y="5175504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50749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next planning cycle approaching, the brand director wants a clear, structured view of which levers are actually moving sales before committing budget.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187452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0B2D48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9933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THIS REVIEW ANSWERS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37960" y="233172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3317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12864" y="2286000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appears to be shaping NovaPulse sales over the last 24 months?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37960" y="292608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29260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12864" y="2880360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our marketing channels rank against each other?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37960" y="35204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3520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912864" y="3474720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external factors (price, seasonality, competitor pressure) shaping what we see?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37960" y="411480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41148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12864" y="4069080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any months, patterns, or data points that need to be treated with caution?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37960" y="470916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47091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12864" y="4663440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portion of the budget were freed up, where would you direct us to look first?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37960" y="530352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53035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12864" y="5257800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we be cautious about before acting on this recommendation?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NovaPulse Commercial Performance Review  |  Confidential – Client Working Draft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tested two hypotheses — channel effectiveness and external forces — using a correlation map and a growth-correlation cross-check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0B2D4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240280"/>
            <a:ext cx="21122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explains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NovaPulse sales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24 months?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88920" y="2788920"/>
            <a:ext cx="457200" cy="0"/>
          </a:xfrm>
          <a:prstGeom prst="line">
            <a:avLst/>
          </a:prstGeom>
          <a:noFill/>
          <a:ln w="19050">
            <a:solidFill>
              <a:srgbClr val="B7C4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2788920"/>
            <a:ext cx="0" cy="182880"/>
          </a:xfrm>
          <a:prstGeom prst="line">
            <a:avLst/>
          </a:prstGeom>
          <a:noFill/>
          <a:ln w="19050">
            <a:solidFill>
              <a:srgbClr val="B7C4C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246120" y="2971800"/>
            <a:ext cx="4114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313639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410712" y="31363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10712" y="3520440"/>
            <a:ext cx="37856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2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channels differ meaningfully in performance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10712" y="4343400"/>
            <a:ext cx="37856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rank each channel's correlation with sales (Feb-24 excluded), then confirm the pattern through a second lens — correlating each channel's month-over-month growth with sales growth.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88920" y="2788920"/>
            <a:ext cx="4846320" cy="0"/>
          </a:xfrm>
          <a:prstGeom prst="line">
            <a:avLst/>
          </a:prstGeom>
          <a:noFill/>
          <a:ln w="19050">
            <a:solidFill>
              <a:srgbClr val="B7C4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5240" y="2788920"/>
            <a:ext cx="0" cy="182880"/>
          </a:xfrm>
          <a:prstGeom prst="line">
            <a:avLst/>
          </a:prstGeom>
          <a:noFill/>
          <a:ln w="19050">
            <a:solidFill>
              <a:srgbClr val="B7C4C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635240" y="2971800"/>
            <a:ext cx="4114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9832" y="313639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7799832" y="31363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99832" y="3520440"/>
            <a:ext cx="37856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2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factors shape a real share of the picture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99832" y="4343400"/>
            <a:ext cx="37856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rank seasonality, price, and competitor pressure by correlation with sales; check how spend responds when competitive pressure rises.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E7F0F2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555955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b="1" dirty="0">
                <a:solidFill>
                  <a:srgbClr val="0B2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diagnostics used: </a:t>
            </a: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correlation map across all six marketing channels; a month-over-month growth correlation as a second, independent cross-check; 24 months of data, Jan-23–Dec-24, single market (India); and a systematic z-score scan of month-over-month sales growth to flag anomalies before drawing conclusions — this is how Feb-24 was first identified.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NovaPulse Commercial Performance Review  |  Confidential – Client Working Draft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  ·  1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growth of +10.2% is real on paper, but nearly two-thirds of it traces to one statistically flagged month</a:t>
            </a:r>
            <a:endParaRPr lang="en-US" sz="2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828800"/>
          <a:ext cx="70408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892040" y="233172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B3452C">
              <a:alpha val="88000"/>
            </a:srgbClr>
          </a:solidFill>
          <a:ln w="12700">
            <a:solidFill>
              <a:srgbClr val="B3452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937760" y="2377440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Feb-24: 8,950</a:t>
            </a:r>
            <a:endParaRPr lang="en-US" sz="800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 = 3.8, flagged)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7726680" y="182880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0956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+10.2%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555480" y="19202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YoY growth</a:t>
            </a:r>
            <a:endParaRPr lang="en-US" sz="9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(2023 → 2024, as reported)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726680" y="292608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E7F0F2"/>
          </a:solidFill>
          <a:ln/>
        </p:spPr>
      </p:sp>
      <p:sp>
        <p:nvSpPr>
          <p:cNvPr id="11" name="Text 8"/>
          <p:cNvSpPr/>
          <p:nvPr/>
        </p:nvSpPr>
        <p:spPr>
          <a:xfrm>
            <a:off x="7909560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+3.6%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555480" y="30175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YoY growth once</a:t>
            </a:r>
            <a:endParaRPr lang="en-US" sz="9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Feb-24 is normalized to the Jan/Mar average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726680" y="402336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B3452C">
              <a:alpha val="12000"/>
            </a:srgbClr>
          </a:solidFill>
          <a:ln w="12700">
            <a:solidFill>
              <a:srgbClr val="B3452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09560" y="4114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3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~65%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555480" y="41148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reported YoY unit growth is attributable to that single month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726680" y="5074920"/>
            <a:ext cx="3977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scan of month-over-month growth (z-scores) flags Feb-24 as a statistical outlier — z = 3.8, far beyond any other month. TV, Digital, Search, Email, and Rep Calls rose only 4–7% that month, in line with normal movement; Webinar count doubled (2 to 4) but from too small a base to matter. The spike has no supporting driver and should be validated before use in planning.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NovaPulse Commercial Performance Review  |  Confidential – Client Working Draft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  ·  2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TV absorbs 73% of paid media budget, despite relatively poor performance</a:t>
            </a:r>
            <a:endParaRPr lang="en-US" sz="2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874520"/>
          <a:ext cx="38404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434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TV, Digital, and Paid Search carry cost data — Email, Rep Calls, and Webinars are activity counts with no linked spend.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574837"/>
              </p:ext>
            </p:extLst>
          </p:nvPr>
        </p:nvGraphicFramePr>
        <p:xfrm>
          <a:off x="4617720" y="1828800"/>
          <a:ext cx="6461760" cy="2651761"/>
        </p:xfrm>
        <a:graphic>
          <a:graphicData uri="http://schemas.openxmlformats.org/drawingml/2006/table">
            <a:tbl>
              <a:tblPr/>
              <a:tblGrid>
                <a:gridCol w="792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88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i="1" dirty="0">
                          <a:solidFill>
                            <a:srgbClr val="5B6B75"/>
                          </a:solidFill>
                        </a:rPr>
                        <a:t>Correlation</a:t>
                      </a:r>
                      <a:endParaRPr lang="en-US" sz="800" dirty="0"/>
                    </a:p>
                  </a:txBody>
                  <a:tcPr anchor="b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Rep Calls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Paid Search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Digital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Email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TV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Webinar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Rep Calls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0.99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0.98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0.97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0.96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3452C"/>
                          </a:solidFill>
                        </a:rPr>
                        <a:t>0.58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Paid Search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0.99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0.98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0.97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0.99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3452C"/>
                          </a:solidFill>
                        </a:rPr>
                        <a:t>0.58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Digital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0.98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0.98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0.99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0.96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3452C"/>
                          </a:solidFill>
                        </a:rPr>
                        <a:t>0.50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Email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0.97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0.97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0.99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0.96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3452C"/>
                          </a:solidFill>
                        </a:rPr>
                        <a:t>0.56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TV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0.96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0.99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0.96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0.96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3452C"/>
                          </a:solidFill>
                        </a:rPr>
                        <a:t>0.62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Webinar</a:t>
                      </a:r>
                      <a:endParaRPr lang="en-US" sz="9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3452C"/>
                          </a:solidFill>
                        </a:rPr>
                        <a:t>0.58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3452C"/>
                          </a:solidFill>
                        </a:rPr>
                        <a:t>0.58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3452C"/>
                          </a:solidFill>
                        </a:rPr>
                        <a:t>0.50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3452C"/>
                          </a:solidFill>
                        </a:rPr>
                        <a:t>0.56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3452C"/>
                          </a:solidFill>
                        </a:rPr>
                        <a:t>0.62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05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17720" y="4526280"/>
            <a:ext cx="7086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correlation between channel spend/activity levels, Jan-23–Dec-24 (Feb-24 anomaly excluded)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457200" y="5074920"/>
            <a:ext cx="11247120" cy="1325880"/>
          </a:xfrm>
          <a:prstGeom prst="roundRect">
            <a:avLst>
              <a:gd name="adj" fmla="val 5517"/>
            </a:avLst>
          </a:prstGeom>
          <a:solidFill>
            <a:srgbClr val="E7F0F2"/>
          </a:solidFill>
          <a:ln/>
        </p:spPr>
      </p:sp>
      <p:sp>
        <p:nvSpPr>
          <p:cNvPr id="9" name="Text 5"/>
          <p:cNvSpPr/>
          <p:nvPr/>
        </p:nvSpPr>
        <p:spPr>
          <a:xfrm>
            <a:off x="658368" y="5175504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B2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map: </a:t>
            </a: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with a month-over-month growth analysis (next chart), this correlation map anchors our channel ranking below. TV alone absorbs 73% of paid media budget — the largest share by far — despite ranking last among the three costed channels.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76656" y="5779008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0B2D48"/>
          </a:solidFill>
          <a:ln/>
        </p:spPr>
      </p:sp>
      <p:sp>
        <p:nvSpPr>
          <p:cNvPr id="11" name="Text 7"/>
          <p:cNvSpPr/>
          <p:nvPr/>
        </p:nvSpPr>
        <p:spPr>
          <a:xfrm>
            <a:off x="676656" y="5779008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Rep Calls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487168" y="5779008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3" name="Text 9"/>
          <p:cNvSpPr/>
          <p:nvPr/>
        </p:nvSpPr>
        <p:spPr>
          <a:xfrm>
            <a:off x="2487168" y="5779008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Paid Search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297680" y="5779008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5" name="Text 11"/>
          <p:cNvSpPr/>
          <p:nvPr/>
        </p:nvSpPr>
        <p:spPr>
          <a:xfrm>
            <a:off x="4297680" y="5779008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Digital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08192" y="5779008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7" name="Text 13"/>
          <p:cNvSpPr/>
          <p:nvPr/>
        </p:nvSpPr>
        <p:spPr>
          <a:xfrm>
            <a:off x="6108192" y="5779008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Email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918704" y="5779008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9" name="Text 15"/>
          <p:cNvSpPr/>
          <p:nvPr/>
        </p:nvSpPr>
        <p:spPr>
          <a:xfrm>
            <a:off x="7918704" y="5779008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TV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9729216" y="5779008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B3452C"/>
          </a:solidFill>
          <a:ln/>
        </p:spPr>
      </p:sp>
      <p:sp>
        <p:nvSpPr>
          <p:cNvPr id="21" name="Text 17"/>
          <p:cNvSpPr/>
          <p:nvPr/>
        </p:nvSpPr>
        <p:spPr>
          <a:xfrm>
            <a:off x="9729216" y="5779008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Webinar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NovaPulse Commercial Performance Review  |  Confidential – Client Working Draft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  ·  3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Month-over-month growth confirms the pattern: Email emerges as the best, Paid Search follows</a:t>
            </a:r>
            <a:endParaRPr lang="en-US" sz="25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252093641"/>
              </p:ext>
            </p:extLst>
          </p:nvPr>
        </p:nvGraphicFramePr>
        <p:xfrm>
          <a:off x="1280160" y="1828800"/>
          <a:ext cx="96012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3492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Feb-24 excluded as a data anomaly; the Jan → Mar-24 point therefore spans two calendar months, not one.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56235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E7F0F2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573328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B2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shows: </a:t>
            </a: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Calls’ month-over-month growth (blue) tracks sales (green) most closely of all six channels, with Paid Search (grey) close behind — reinforcing the ranking established by the correlation map.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NovaPulse Commercial Performance Review  |  Confidential – Client Working Draft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DRIVERS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Seasonality is the dominant external force and the response to competitor pressure runs backwards</a:t>
            </a:r>
            <a:endParaRPr lang="en-US" sz="25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97362340"/>
              </p:ext>
            </p:extLst>
          </p:nvPr>
        </p:nvGraphicFramePr>
        <p:xfrm>
          <a:off x="621793" y="1920240"/>
          <a:ext cx="11082528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86200"/>
            <a:ext cx="35966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3886200"/>
            <a:ext cx="3596640" cy="73152"/>
          </a:xfrm>
          <a:prstGeom prst="rect">
            <a:avLst/>
          </a:prstGeom>
          <a:solidFill>
            <a:srgbClr val="0B2D48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4050792"/>
            <a:ext cx="3267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B2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— 0.97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21792" y="4453128"/>
            <a:ext cx="326745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6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far the strongest external signal. December is a genuine peak (~7,225 avg units — seasonality index and holiday flag both peak here), while sales consistently dip each September. This should anchor the annual media calendar, not just inform it.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4282440" y="3886200"/>
            <a:ext cx="35966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82440" y="3886200"/>
            <a:ext cx="359664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4447032" y="4050792"/>
            <a:ext cx="3267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— 0.60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447032" y="4453128"/>
            <a:ext cx="326745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6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steadily across the full 24 months alongside almost everything else. Likely a shared time trend, not genuine pricing power — treat as confounded, not a real elasticity estimate.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8107680" y="3886200"/>
            <a:ext cx="35966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07680" y="3886200"/>
            <a:ext cx="3596640" cy="73152"/>
          </a:xfrm>
          <a:prstGeom prst="rect">
            <a:avLst/>
          </a:prstGeom>
          <a:solidFill>
            <a:srgbClr val="B3452C"/>
          </a:solidFill>
          <a:ln/>
        </p:spPr>
      </p:sp>
      <p:sp>
        <p:nvSpPr>
          <p:cNvPr id="15" name="Text 12"/>
          <p:cNvSpPr/>
          <p:nvPr/>
        </p:nvSpPr>
        <p:spPr>
          <a:xfrm>
            <a:off x="8272272" y="4050792"/>
            <a:ext cx="3267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B3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PRESSURE — 0.01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272272" y="4453128"/>
            <a:ext cx="326745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6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activity peaks each year (0.52, 0.48). TV spend has instead fallen ~11–12% into September in both years — spend pulls back exactly when competitors push hardest (spend-vs-competitor correlation: −0.22), the reverse of the ideal response. 2023's dip was further compounded by a stock-out.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NovaPulse Commercial Performance Review  |  Confidential – Client Working Draft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Protect – Shift – Validate roadmap turns the channel ranking into a phased, testable reallocation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7452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0B2D4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286000"/>
            <a:ext cx="3566160" cy="365760"/>
          </a:xfrm>
          <a:prstGeom prst="rect">
            <a:avLst/>
          </a:prstGeom>
          <a:solidFill>
            <a:srgbClr val="0B2D4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842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2951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2880360"/>
            <a:ext cx="64008" cy="64008"/>
          </a:xfrm>
          <a:prstGeom prst="ellipse">
            <a:avLst/>
          </a:prstGeom>
          <a:solidFill>
            <a:srgbClr val="0B2D48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779776"/>
            <a:ext cx="29992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and grow Rep Calls — our top-performing channel overall — while its true cost and ROI are being assessed.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658368" y="3959352"/>
            <a:ext cx="64008" cy="64008"/>
          </a:xfrm>
          <a:prstGeom prst="ellipse">
            <a:avLst/>
          </a:prstGeom>
          <a:solidFill>
            <a:srgbClr val="0B2D48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858768"/>
            <a:ext cx="29992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the December seasonal step-up as a planned, calendarized push — seasonality is the single strongest external force found (0.97 correlation).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58368" y="5038344"/>
            <a:ext cx="64008" cy="64008"/>
          </a:xfrm>
          <a:prstGeom prst="ellipse">
            <a:avLst/>
          </a:prstGeom>
          <a:solidFill>
            <a:srgbClr val="0B2D48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4937760"/>
            <a:ext cx="29992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September contingency plan: safety stock and a deliberate spend increase — reversing the pattern of pulling back exactly when competitors push hardest.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4297680" y="187452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87452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4297680" y="2286000"/>
            <a:ext cx="356616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19842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80560" y="22951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1–2 Quarters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98848" y="2880360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4681728" y="2779776"/>
            <a:ext cx="29992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TV — it ranks last of the three costed channels despite holding 73% of budget — and step up Paid Search, which ranks best of the three but holds only 8%.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4498848" y="3959352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4681728" y="3858768"/>
            <a:ext cx="29992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a phased step-up in Webinar activity to grow its currently-small base — it ranks last overall, partly a function of scale rather than performance.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4498848" y="5038344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681728" y="4937760"/>
            <a:ext cx="29992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Increase, not decrease, marketing spend during high-competitor months — a direct reversal of the pattern seen in the data.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8138160" y="187452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187452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E8A33D"/>
          </a:solidFill>
          <a:ln/>
        </p:spPr>
      </p:sp>
      <p:sp>
        <p:nvSpPr>
          <p:cNvPr id="28" name="Shape 26"/>
          <p:cNvSpPr/>
          <p:nvPr/>
        </p:nvSpPr>
        <p:spPr>
          <a:xfrm>
            <a:off x="8138160" y="2286000"/>
            <a:ext cx="3566160" cy="3657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9" name="Text 27"/>
          <p:cNvSpPr/>
          <p:nvPr/>
        </p:nvSpPr>
        <p:spPr>
          <a:xfrm>
            <a:off x="8321040" y="19842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21040" y="22951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Scaling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339328" y="2880360"/>
            <a:ext cx="64008" cy="640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30"/>
          <p:cNvSpPr/>
          <p:nvPr/>
        </p:nvSpPr>
        <p:spPr>
          <a:xfrm>
            <a:off x="8522208" y="2779776"/>
            <a:ext cx="29992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Feb-24 anomaly with the data/ops team before it informs any budget conversation — a statistically confirmed outlier (z = 3.8), not a trend.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8339328" y="3959352"/>
            <a:ext cx="64008" cy="640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4" name="Text 32"/>
          <p:cNvSpPr/>
          <p:nvPr/>
        </p:nvSpPr>
        <p:spPr>
          <a:xfrm>
            <a:off x="8522208" y="3858768"/>
            <a:ext cx="29992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out Rep Calls and Email activity — our top two channels — so a true ROI can be computed for either.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8339328" y="5038344"/>
            <a:ext cx="64008" cy="640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6" name="Text 34"/>
          <p:cNvSpPr/>
          <p:nvPr/>
        </p:nvSpPr>
        <p:spPr>
          <a:xfrm>
            <a:off x="8522208" y="4937760"/>
            <a:ext cx="29992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Re-baseline the channel ranking each quarter as new months land and Webinar's base grows.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NovaPulse Commercial Performance Review  |  Confidential – Client Working Draft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CAVEATS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2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these findings as directional — eight limitations should be resolved before locking next year's plan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4864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9202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7D2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70432" y="1911096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B2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time series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1170432" y="2176272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80"/>
              </a:lnSpc>
              <a:buNone/>
            </a:pPr>
            <a:r>
              <a:rPr lang="en-US" sz="94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months is a thin base for any statistical read; treat every conclusion here as directional, not definitive.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4864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64224" y="19202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7D2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31152" y="1911096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B2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Single-market data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931152" y="2176272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80"/>
              </a:lnSpc>
              <a:buNone/>
            </a:pPr>
            <a:r>
              <a:rPr lang="en-US" sz="94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reflect India only and may not generalize to other geographies without local validation.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457200" y="2898648"/>
            <a:ext cx="54864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99008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7D2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70432" y="2980944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B2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sample, many variables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1170432" y="3246120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80"/>
              </a:lnSpc>
              <a:buNone/>
            </a:pPr>
            <a:r>
              <a:rPr lang="en-US" sz="94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observations against 10+ potential drivers carries real overfitting risk.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6217920" y="2898648"/>
            <a:ext cx="54864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299008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7D2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931152" y="2980944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B2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unresolved data anomaly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6931152" y="3246120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80"/>
              </a:lnSpc>
              <a:buNone/>
            </a:pPr>
            <a:r>
              <a:rPr lang="en-US" sz="94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Feb-24's +108% spike (z = 3.8) has no supporting driver and was excluded from analysis; validate before use.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457200" y="3968496"/>
            <a:ext cx="54864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4059936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7D2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70432" y="4050792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B2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reflects a fixed window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1170432" y="4315968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80"/>
              </a:lnSpc>
              <a:buNone/>
            </a:pPr>
            <a:r>
              <a:rPr lang="en-US" sz="94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channel and factor rankings are based on 24 months to date and should be re-confirmed as new data, particularly Webinar activity, accumulates.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6217920" y="3968496"/>
            <a:ext cx="54864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4224" y="4059936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7D2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931152" y="4050792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B2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cost data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6931152" y="4315968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80"/>
              </a:lnSpc>
              <a:buNone/>
            </a:pPr>
            <a:r>
              <a:rPr lang="en-US" sz="94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Rep Calls, and Webinars have no linked spend, so a blended ROI across all six channels can't yet be computed.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457200" y="5038344"/>
            <a:ext cx="54864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" y="5129784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7D2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170432" y="5120640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B2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time are confounded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1170432" y="5385816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80"/>
              </a:lnSpc>
              <a:buNone/>
            </a:pPr>
            <a:r>
              <a:rPr lang="en-US" sz="94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Price_Index rises steadily alongside almost everything else, so its correlation likely reflects the shared trend, not real pricing power.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6217920" y="5038344"/>
            <a:ext cx="54864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64224" y="5129784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7D2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931152" y="5120640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B2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carryover or geographic detail</a:t>
            </a:r>
            <a:endParaRPr lang="en-US" sz="1130" dirty="0"/>
          </a:p>
        </p:txBody>
      </p:sp>
      <p:sp>
        <p:nvSpPr>
          <p:cNvPr id="35" name="Text 33"/>
          <p:cNvSpPr/>
          <p:nvPr/>
        </p:nvSpPr>
        <p:spPr>
          <a:xfrm>
            <a:off x="6931152" y="5385816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80"/>
              </a:lnSpc>
              <a:buNone/>
            </a:pPr>
            <a:r>
              <a:rPr lang="en-US" sz="94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adstock/lag structure and no region or HCP-level granularity, both of which would sharpen attribution.</a:t>
            </a:r>
            <a:endParaRPr lang="en-US" sz="940" dirty="0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NovaPulse Commercial Performance Review  |  Confidential – Client Working Draft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validate the Feb-24 anomaly with the data/ops team, then launch a phased test — trimming TV toward Paid Search, growing Rep Calls and Webinar activity, and reversing the pattern of cutting spend during competitive months.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IQVIA Commercial Analytics  |  Confidential – Client Working Draft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1818</Words>
  <Application>Microsoft Office PowerPoint</Application>
  <PresentationFormat>Widescreen</PresentationFormat>
  <Paragraphs>220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Raman Yadav</cp:lastModifiedBy>
  <cp:revision>4</cp:revision>
  <dcterms:created xsi:type="dcterms:W3CDTF">2026-07-31T00:53:28Z</dcterms:created>
  <dcterms:modified xsi:type="dcterms:W3CDTF">2026-07-31T04:05:06Z</dcterms:modified>
</cp:coreProperties>
</file>