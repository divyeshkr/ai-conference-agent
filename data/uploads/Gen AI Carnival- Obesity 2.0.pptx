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33" r:id="rId4"/>
  </p:sldMasterIdLst>
  <p:notesMasterIdLst>
    <p:notesMasterId r:id="rId13"/>
  </p:notesMasterIdLst>
  <p:handoutMasterIdLst>
    <p:handoutMasterId r:id="rId14"/>
  </p:handoutMasterIdLst>
  <p:sldIdLst>
    <p:sldId id="2147470853" r:id="rId5"/>
    <p:sldId id="258" r:id="rId6"/>
    <p:sldId id="2147470854" r:id="rId7"/>
    <p:sldId id="2147470847" r:id="rId8"/>
    <p:sldId id="2147470848" r:id="rId9"/>
    <p:sldId id="2147470849" r:id="rId10"/>
    <p:sldId id="2147470850" r:id="rId11"/>
    <p:sldId id="2147470852" r:id="rId1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46" userDrawn="1">
          <p15:clr>
            <a:srgbClr val="A4A3A4"/>
          </p15:clr>
        </p15:guide>
        <p15:guide id="5" pos="232" userDrawn="1">
          <p15:clr>
            <a:srgbClr val="A4A3A4"/>
          </p15:clr>
        </p15:guide>
        <p15:guide id="6" pos="7393" userDrawn="1">
          <p15:clr>
            <a:srgbClr val="A4A3A4"/>
          </p15:clr>
        </p15:guide>
        <p15:guide id="7" orient="horz" pos="1057" userDrawn="1">
          <p15:clr>
            <a:srgbClr val="A4A3A4"/>
          </p15:clr>
        </p15:guide>
        <p15:guide id="8" orient="horz" pos="39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EE4A01-D86D-8630-2852-E361F55E7108}" name="Singh, Sudhir" initials="SS" userId="S::SudhirKumar.Singh@in.imshealth.com::134f7331-3f39-4975-8ec9-a401332c6790" providerId="AD"/>
  <p188:author id="{B301532F-A660-C23B-440B-CBD5CDF7129B}" name="Shankar, Vijay" initials="VS" userId="S::VShankar@in.imshealth.com::b85f1387-40d0-4ed1-aca3-6e1b9cba58e4" providerId="AD"/>
  <p188:author id="{276F5A30-B796-952A-55D8-9521D057CD0C}" name="Rabbitt, Erin" initials="ER" userId="S::erin.rabbitt@quintiles.com::716d4cb3-a53a-40ae-be3d-1e46e22e23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1405"/>
    <a:srgbClr val="00CCFF"/>
    <a:srgbClr val="0CEFC3"/>
    <a:srgbClr val="AFA2F0"/>
    <a:srgbClr val="202C31"/>
    <a:srgbClr val="DA291C"/>
    <a:srgbClr val="140B42"/>
    <a:srgbClr val="FF0000"/>
    <a:srgbClr val="00BFB3"/>
    <a:srgbClr val="6CE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706" autoAdjust="0"/>
  </p:normalViewPr>
  <p:slideViewPr>
    <p:cSldViewPr snapToGrid="0">
      <p:cViewPr varScale="1">
        <p:scale>
          <a:sx n="93" d="100"/>
          <a:sy n="93" d="100"/>
        </p:scale>
        <p:origin x="53" y="53"/>
      </p:cViewPr>
      <p:guideLst>
        <p:guide orient="horz" pos="946"/>
        <p:guide pos="232"/>
        <p:guide pos="7393"/>
        <p:guide orient="horz" pos="1057"/>
        <p:guide orient="horz" pos="39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Global obesity-drug revenue ($B)</c:v>
                </c:pt>
              </c:strCache>
            </c:strRef>
          </c:tx>
          <c:spPr>
            <a:solidFill>
              <a:srgbClr val="00A9E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6F7C83"/>
              </a:solidFill>
            </c:spPr>
            <c:extLst>
              <c:ext xmlns:c16="http://schemas.microsoft.com/office/drawing/2014/chart" uri="{C3380CC4-5D6E-409C-BE32-E72D297353CC}">
                <c16:uniqueId val="{00000001-A3F8-479E-A122-084757423002}"/>
              </c:ext>
            </c:extLst>
          </c:dPt>
          <c:dPt>
            <c:idx val="1"/>
            <c:invertIfNegative val="1"/>
            <c:bubble3D val="0"/>
            <c:spPr>
              <a:solidFill>
                <a:srgbClr val="00A9E0"/>
              </a:solidFill>
            </c:spPr>
            <c:extLst>
              <c:ext xmlns:c16="http://schemas.microsoft.com/office/drawing/2014/chart" uri="{C3380CC4-5D6E-409C-BE32-E72D297353CC}">
                <c16:uniqueId val="{00000003-A3F8-479E-A122-084757423002}"/>
              </c:ext>
            </c:extLst>
          </c:dPt>
          <c:dPt>
            <c:idx val="2"/>
            <c:invertIfNegative val="1"/>
            <c:bubble3D val="0"/>
            <c:spPr>
              <a:solidFill>
                <a:srgbClr val="4CA9D4"/>
              </a:solidFill>
            </c:spPr>
            <c:extLst>
              <c:ext xmlns:c16="http://schemas.microsoft.com/office/drawing/2014/chart" uri="{C3380CC4-5D6E-409C-BE32-E72D297353CC}">
                <c16:uniqueId val="{00000005-A3F8-479E-A122-084757423002}"/>
              </c:ext>
            </c:extLst>
          </c:dPt>
          <c:dPt>
            <c:idx val="3"/>
            <c:invertIfNegative val="1"/>
            <c:bubble3D val="0"/>
            <c:spPr>
              <a:solidFill>
                <a:srgbClr val="00BFB3"/>
              </a:solidFill>
            </c:spPr>
            <c:extLst>
              <c:ext xmlns:c16="http://schemas.microsoft.com/office/drawing/2014/chart" uri="{C3380CC4-5D6E-409C-BE32-E72D297353CC}">
                <c16:uniqueId val="{00000007-A3F8-479E-A122-084757423002}"/>
              </c:ext>
            </c:extLst>
          </c:dPt>
          <c:dPt>
            <c:idx val="4"/>
            <c:invertIfNegative val="1"/>
            <c:bubble3D val="0"/>
            <c:spPr>
              <a:solidFill>
                <a:srgbClr val="130C55"/>
              </a:solidFill>
            </c:spPr>
            <c:extLst>
              <c:ext xmlns:c16="http://schemas.microsoft.com/office/drawing/2014/chart" uri="{C3380CC4-5D6E-409C-BE32-E72D297353CC}">
                <c16:uniqueId val="{00000009-A3F8-479E-A122-084757423002}"/>
              </c:ext>
            </c:extLst>
          </c:dPt>
          <c:cat>
            <c:strRef>
              <c:f>Sheet1!$A$2:$A$6</c:f>
              <c:strCache>
                <c:ptCount val="5"/>
                <c:pt idx="0">
                  <c:v>2024
actual</c:v>
                </c:pt>
                <c:pt idx="1">
                  <c:v>2030
base</c:v>
                </c:pt>
                <c:pt idx="2">
                  <c:v>2030
high</c:v>
                </c:pt>
                <c:pt idx="3">
                  <c:v>2035
peak</c:v>
                </c:pt>
                <c:pt idx="4">
                  <c:v>$200B+
envelope*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105</c:v>
                </c:pt>
                <c:pt idx="2">
                  <c:v>144</c:v>
                </c:pt>
                <c:pt idx="3">
                  <c:v>150</c:v>
                </c:pt>
                <c:pt idx="4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A3F8-479E-A122-0847574230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F7C83"/>
            </a:solidFill>
          </a:ln>
        </c:spPr>
        <c:txPr>
          <a:bodyPr/>
          <a:lstStyle/>
          <a:p>
            <a:pPr>
              <a:defRPr sz="1400">
                <a:solidFill>
                  <a:srgbClr val="253746"/>
                </a:solidFill>
                <a:latin typeface="Noto Sans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20"/>
          <c:min val="0"/>
        </c:scaling>
        <c:delete val="0"/>
        <c:axPos val="l"/>
        <c:majorGridlines>
          <c:spPr>
            <a:ln>
              <a:solidFill>
                <a:srgbClr val="E6EC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6F7C83"/>
            </a:solidFill>
          </a:ln>
        </c:spPr>
        <c:txPr>
          <a:bodyPr/>
          <a:lstStyle/>
          <a:p>
            <a:pPr>
              <a:defRPr sz="1400">
                <a:solidFill>
                  <a:srgbClr val="6F7C83"/>
                </a:solidFill>
                <a:latin typeface="Noto Sans"/>
              </a:defRPr>
            </a:pPr>
            <a:endParaRPr lang="en-US"/>
          </a:p>
        </c:txPr>
        <c:crossAx val="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8/30/2026</a:t>
            </a:fld>
            <a:endParaRPr lang="en-US" sz="1000" i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147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96415" y="1314911"/>
            <a:ext cx="6230270" cy="52596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Executive summary.</a:t>
            </a:r>
          </a:p>
          <a:p>
            <a:r>
              <a:rPr lang="en-US"/>
              <a:t>Core thesis: obesity is moving from a weight-loss category to a cardiometabolic platform, but $200B+ should be treated as an upside opportunity envelope rather than the current consensus forecast.</a:t>
            </a:r>
          </a:p>
          <a:p>
            <a:r>
              <a:rPr lang="en-US"/>
              <a:t>Sources:</a:t>
            </a:r>
          </a:p>
          <a:p>
            <a:r>
              <a:rPr lang="en-US"/>
              <a:t>- WHO, Obesity and overweight (8 Dec 2025): https://www.who.int/news-room/fact-sheets/detail/obesity-and-overweight</a:t>
            </a:r>
          </a:p>
          <a:p>
            <a:r>
              <a:rPr lang="en-US"/>
              <a:t>- Morgan Stanley, The Exponential Growth of Obesity Drugs (9 May 2025): https://www.morganstanley.com/insights/articles/weight-loss-medication-market-unstoppable-growth</a:t>
            </a:r>
          </a:p>
          <a:p>
            <a:r>
              <a:rPr lang="en-US"/>
              <a:t>- FDA Wegovy cardiovascular indication (8 Mar 2024): https://www.fda.gov/news-events/press-announcements/fda-approves-first-treatment-reduce-risk-serious-heart-problems-specifically-adults-obesity-or</a:t>
            </a:r>
          </a:p>
          <a:p>
            <a:r>
              <a:rPr lang="en-US"/>
              <a:t>- FDA Zepbound obstructive sleep apnea indication (20 Dec 2024): https://www.fda.gov/news-events/press-announcements/fda-approves-first-medication-obstructive-sleep-apnea</a:t>
            </a:r>
          </a:p>
          <a:p>
            <a:r>
              <a:rPr lang="en-US"/>
              <a:t>Note: $200B+ is a strategic opportunity envelope, not a consensus forecast.</a:t>
            </a:r>
          </a:p>
          <a:p>
            <a:endParaRPr lang="en-US"/>
          </a:p>
          <a:p>
            <a:r>
              <a:rPr lang="en-US"/>
              <a:t>Refinement from user-provided evidence briefing, “Obesity 2.0 — Beyond the GLP-1 hype” (24 Aug 2026): Reuters, 2 Feb 2026 / Goldman Sachs indicate approximately $100–105B in 2030 global obesity-drug sales after forecast compression; J.P. Morgan's $200B view covers the broader global incretin market. Definitions are not directly comparable.</a:t>
            </a:r>
          </a:p>
          <a:p>
            <a:r>
              <a:rPr lang="en-US"/>
              <a:t>Reuters: https://www.reuters.com/business/healthcare-pharmaceuticals/obesity-market-sales-potential-tightens-novo-lilly-enter-new-era-2026-02-02/</a:t>
            </a:r>
          </a:p>
          <a:p>
            <a:r>
              <a:rPr lang="en-US"/>
              <a:t>J.P. Morgan: https://www.jpmorgan.com/insights/global-research/current-events/obesity-drugs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5699651" y="8780243"/>
            <a:ext cx="927049" cy="251346"/>
          </a:xfrm>
          <a:prstGeom prst="rect">
            <a:avLst/>
          </a:prstGeom>
        </p:spPr>
        <p:txBody>
          <a:bodyPr/>
          <a:lstStyle/>
          <a:p>
            <a:fld id="{CA61E296-9532-40C3-9174-581AD2B7748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5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2228-6A56-8B9C-0AD1-DDB58BE9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09350-A578-FC77-B83E-E93DF7975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72C5F-EEA0-B68C-3A8D-0151E63CE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>
            <a:extLst>
              <a:ext uri="{FF2B5EF4-FFF2-40B4-BE49-F238E27FC236}">
                <a16:creationId xmlns:a16="http://schemas.microsoft.com/office/drawing/2014/main" id="{C5C4111D-CDB1-21E3-9642-F1F86183D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Assessment: short-term hype and long-term underappreciation can both be true.</a:t>
            </a:r>
          </a:p>
          <a:p>
            <a:r>
              <a:t>Sources:</a:t>
            </a:r>
          </a:p>
          <a:p>
            <a:r>
              <a:t>- WHO, One in eight people are now living with obesity (1 Mar 2024): https://www.who.int/news/item/01-03-2024-one-in-eight-people-are-now-living-with-obesity</a:t>
            </a:r>
          </a:p>
          <a:p>
            <a:r>
              <a:t>- World Obesity Atlas 2025: https://data.worldobesity.org/publications/world-obesity-atlas-2025-v6.pdf</a:t>
            </a:r>
          </a:p>
          <a:p>
            <a:r>
              <a:t>- Goldman Sachs, $100B by 2030 thesis (30 Oct 2023): https://www.goldmansachs.com/insights/articles/anti-obesity-drug-market</a:t>
            </a:r>
          </a:p>
          <a:p>
            <a:r>
              <a:t>- Rodriguez et al., JAMA Network Open, discontinuation/reinitiation (2 Jan 2025): https://pubmed.ncbi.nlm.nih.gov/39888616/</a:t>
            </a:r>
          </a:p>
          <a:p>
            <a:r>
              <a:t>- Wilding et al., STEP 1 extension, weight regain after withdrawal (2022): https://pubmed.ncbi.nlm.nih.gov/35441470/</a:t>
            </a:r>
          </a:p>
          <a:p>
            <a:r>
              <a:t>The curve is a qualitative strategic framework, not measured market data.</a:t>
            </a:r>
          </a:p>
        </p:txBody>
      </p:sp>
    </p:spTree>
    <p:extLst>
      <p:ext uri="{BB962C8B-B14F-4D97-AF65-F5344CB8AC3E}">
        <p14:creationId xmlns:p14="http://schemas.microsoft.com/office/powerpoint/2010/main" val="2424907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Market-sizing interpretation.</a:t>
            </a:r>
          </a:p>
          <a:p>
            <a:r>
              <a:t>Sources:</a:t>
            </a:r>
          </a:p>
          <a:p>
            <a:r>
              <a:t>- Morgan Stanley, Scaling Up the Impact of Obesity Drugs (7 May 2024): $105B 2030 base, as high as $144B; &gt;$50B supply-chain investment through 2028. https://www.morganstanley.com/ideas/obesity-drugs-market-expanded-opportunity</a:t>
            </a:r>
          </a:p>
          <a:p>
            <a:r>
              <a:t>- Morgan Stanley, The Exponential Growth of Obesity Drugs (9 May 2025): $15B in 2024, $150B peak by 2035, 1.3B eligible and 11% treated in the peak case. https://www.morganstanley.com/insights/articles/weight-loss-medication-market-unstoppable-growth</a:t>
            </a:r>
          </a:p>
          <a:p>
            <a:r>
              <a:t>- Goldman Sachs (30 Oct 2023): $100B by 2030 and 15M U.S. treated adults / 13% eligible penetration. https://www.goldmansachs.com/insights/articles/anti-obesity-drug-market</a:t>
            </a:r>
          </a:p>
          <a:p>
            <a:r>
              <a:t>- FDA CV and OSA indication sources cited on slide 1.</a:t>
            </a:r>
          </a:p>
          <a:p>
            <a:r>
              <a:t>The $200B+ bar is an illustrative strategic envelope, not an external consensus forecast.</a:t>
            </a:r>
          </a:p>
          <a:p>
            <a:endParaRPr lang="en-US"/>
          </a:p>
          <a:p>
            <a:r>
              <a:rPr lang="en-US"/>
              <a:t>Refinement from the user-provided briefing: forecast definitions vary materially. Grand View Research covers GLP-1 agonists for weight loss; Goldman/Reuters covers global obesity-drug sales; J.P. Morgan covers the broader global incretin market; BCC covers all GLP-1 analogues. The chart remains an illustrative strategic scenario rather than a like-for-like forecast comparison.</a:t>
            </a:r>
          </a:p>
          <a:p>
            <a:r>
              <a:rPr lang="en-US"/>
              <a:t>Grand View Research: https://www.grandviewresearch.com/industry-analysis/GLP-1-agonists-weight-loss-drugs-market-report</a:t>
            </a:r>
          </a:p>
          <a:p>
            <a:r>
              <a:rPr lang="en-US"/>
              <a:t>Reuters: https://www.reuters.com/business/healthcare-pharmaceuticals/obesity-market-sales-potential-tightens-novo-lilly-enter-new-era-2026-02-02/</a:t>
            </a:r>
          </a:p>
          <a:p>
            <a:r>
              <a:rPr lang="en-US"/>
              <a:t>J.P. Morgan: https://www.jpmorgan.com/insights/global-research/current-events/obesity-drugs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Innovation roadmap; approved and investigational programs are explicitly distinguished.</a:t>
            </a:r>
          </a:p>
          <a:p>
            <a:r>
              <a:t>Sources:</a:t>
            </a:r>
          </a:p>
          <a:p>
            <a:r>
              <a:t>- FDA, orforglipron approval (1 Apr 2026): https://www.fda.gov/news-events/press-announcements/fda-approves-first-new-molecular-entity-under-national-priority-voucher-program</a:t>
            </a:r>
          </a:p>
          <a:p>
            <a:r>
              <a:t>- Novo Nordisk, oral Wegovy approval announcement (22 Dec 2025): https://www.prnewswire.com/news-releases/fda-approves-novo-nordisks-wegovy-pill-the-first-and-only-oral-glp-1-for-weight-loss-in-adults-302648344.html</a:t>
            </a:r>
          </a:p>
          <a:p>
            <a:r>
              <a:t>- Lilly Q2 2026 / retatrutide status: https://investor.lilly.com/news-releases/news-release-details/lilly-reports-second-quarter-2026-financial-results-raises-full</a:t>
            </a:r>
          </a:p>
          <a:p>
            <a:r>
              <a:t>- Roche CT-388 Phase II: https://www.roche.com/media/releases/med-cor-2026-01-27</a:t>
            </a:r>
          </a:p>
          <a:p>
            <a:r>
              <a:t>- Roche petrelintide Phase II: https://www.roche.com/media/releases/med-cor-2026-03-05</a:t>
            </a:r>
          </a:p>
          <a:p>
            <a:r>
              <a:t>- Amgen MariTide Phase II: https://www.amgen.com/newsroom/press-releases/2025/06/results-from-amgens-phase-2-obesity-study-of-monthly-maritide-presented-at-the-american-diabetes-association-85th-scientific-sessions</a:t>
            </a:r>
          </a:p>
          <a:p>
            <a:r>
              <a:t>- AstraZeneca elecoglipron Phase III plan: https://www.astrazeneca.com/media-centre/press-releases/2026/elecoglipron-an-oral-small-molecule-glp-1-ra-moves-to-phase-iii-programme.html</a:t>
            </a:r>
          </a:p>
          <a:p>
            <a:r>
              <a:t>- Viking VK2735: https://ir.vikingtherapeutics.com/2026-01-12-Viking-Therapeutics-Announces-Publication-of-Results-from-Phase-2-VENTURE-Trial-of-Dual-GLP-1-GIP-Receptor-Agonist-VK2735-in-the-Journal-Obesity</a:t>
            </a:r>
          </a:p>
          <a:p>
            <a:r>
              <a:t>- Structure aleniglipron: https://ir.structuretx.com/news-releases/news-release-details/structure-therapeutics-reports-positive-topline-data-phase-2</a:t>
            </a:r>
          </a:p>
          <a:p>
            <a:r>
              <a:t>- IQVIA pipeline review (Sep 2024): https://www.iqvia.com/-/media/iqvia/pdfs/library/articles/obesity-key-pipeline-developments-and-clinical-trial-insights.pdf</a:t>
            </a:r>
          </a:p>
          <a:p>
            <a:r>
              <a:t>Roadmap timing after 2027 is strategic and subject to clinical/regulatory risk.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Leadership matrix is a qualitative strategic assessment, not an investment recommendation. Axes synthesize public evidence on clinical efficacy, portfolio breadth, manufacturing capacity, commercial reach and pipeline depth.</a:t>
            </a:r>
          </a:p>
          <a:p>
            <a:r>
              <a:t>Sources:</a:t>
            </a:r>
          </a:p>
          <a:p>
            <a:r>
              <a:t>- Lilly Q2 2026 results and pipeline: https://investor.lilly.com/news-releases/news-release-details/lilly-reports-second-quarter-2026-financial-results-raises-full</a:t>
            </a:r>
          </a:p>
          <a:p>
            <a:r>
              <a:t>- Novo Nordisk 2025 annual report: https://annualreport.novonordisk.com/2025/strategic-aspirations/financial-performance.html</a:t>
            </a:r>
          </a:p>
          <a:p>
            <a:r>
              <a:t>- Morgan Stanley supply investment context: https://www.morganstanley.com/ideas/obesity-drugs-market-expanded-opportunity</a:t>
            </a:r>
          </a:p>
          <a:p>
            <a:r>
              <a:t>- Roche CT-388 and petrelintide sources: https://www.roche.com/media/releases/med-cor-2026-01-27 and https://www.roche.com/media/releases/med-cor-2026-03-05</a:t>
            </a:r>
          </a:p>
          <a:p>
            <a:r>
              <a:t>- Amgen MariTide: https://www.amgen.com/newsroom/press-releases/2025/06/results-from-amgens-phase-2-obesity-study-of-monthly-maritide-presented-at-the-american-diabetes-association-85th-scientific-sessions</a:t>
            </a:r>
          </a:p>
          <a:p>
            <a:r>
              <a:t>- AstraZeneca elecoglipron: https://www.astrazeneca.com/media-centre/press-releases/2026/elecoglipron-an-oral-small-molecule-glp-1-ra-moves-to-phase-iii-programme.html</a:t>
            </a:r>
          </a:p>
          <a:p>
            <a:r>
              <a:t>- Viking, Structure and Altimmune sources listed in source notes.</a:t>
            </a:r>
          </a:p>
          <a:p>
            <a:endParaRPr lang="en-US"/>
          </a:p>
          <a:p>
            <a:r>
              <a:rPr lang="en-US"/>
              <a:t>Refinement from the user-provided briefing: GlobalData projects Novo Nordisk and Eli Lilly's combined share declining from roughly 99% today to approximately 78% by 2030 as more anti-obesity medicines enter major markets. This remains a forecast, not a reported outcome.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Healthcare-system response.</a:t>
            </a:r>
          </a:p>
          <a:p>
            <a:r>
              <a:t>Sources:</a:t>
            </a:r>
          </a:p>
          <a:p>
            <a:r>
              <a:t>- KFF, BALANCE model and GLP-1 bridge (11 May 2026): 56% affordability difficulty. https://www.kff.org/medicare/what-to-know-about-the-balance-model-for-glp-1s-in-medicare-and-medicaid/</a:t>
            </a:r>
          </a:p>
          <a:p>
            <a:r>
              <a:t>- CMS BALANCE model announcement (23 Dec 2025): negotiated pricing, standardized coverage and lifestyle supports. https://www.cms.gov/newsroom/press-releases/cms-launches-voluntary-model-expand-access-life-changing-medicines-promote-healthier-living</a:t>
            </a:r>
          </a:p>
          <a:p>
            <a:r>
              <a:t>- CBO, Medicare anti-obesity medication coverage budget analysis (Oct 2024): https://www.cbo.gov/publication/60816</a:t>
            </a:r>
          </a:p>
          <a:p>
            <a:r>
              <a:t>- Business Group on Health 2026 survey: 67% employer coverage; 72% of covering employers likely to continue in 2027. https://www.businessgrouphealth.org/newsroom/news-and-press-releases/press-releases/2026-glp-1-survey</a:t>
            </a:r>
          </a:p>
          <a:p>
            <a:r>
              <a:t>- NICE rollout: around 250K people over three years versus roughly 3.4M meeting listed criteria. https://www.nice.org.uk/news/articles/nice-describes-how-weight-loss-drug-tirzepatide-will-be-rolled-out</a:t>
            </a:r>
          </a:p>
          <a:p>
            <a:endParaRPr lang="en-US"/>
          </a:p>
          <a:p>
            <a:r>
              <a:rPr lang="en-US"/>
              <a:t>Refinement from the user-provided briefing:</a:t>
            </a:r>
          </a:p>
          <a:p>
            <a:r>
              <a:rPr lang="en-US"/>
              <a:t>- CMS Medicare GLP-1 Bridge: qualifying Part D beneficiaries can access selected GLP-1 medicines for $50/month from 1 Jul 2026 through 31 Dec 2027, subject to eligibility, prior authorization and lifestyle support. https://www.cms.gov/newsroom/press-releases/coming-soon-cms-provide-50-monthly-access-glp-1-medications-medicare-beneficiaries</a:t>
            </a:r>
          </a:p>
          <a:p>
            <a:r>
              <a:rPr lang="en-US"/>
              <a:t>- KFF: 13 state Medicaid fee-for-service programs covered GLP-1 medicines for obesity as of Jan 2026. https://www.kff.org/medicaid/medicaid-coverage-of-and-spending-on-glp-1s/</a:t>
            </a:r>
          </a:p>
          <a:p>
            <a:r>
              <a:rPr lang="en-US"/>
              <a:t>- J.P. Morgan briefing cited approximately 55% commercial-employer coverage for obesity GLP-1s. https://www.jpmorgan.com/insights/global-research/current-events/obesity-drugs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Strategic implications synthesize the evidence across the deck.</a:t>
            </a:r>
          </a:p>
          <a:p>
            <a:r>
              <a:t>Key sources: WHO chronic-disease framing; Morgan Stanley and Goldman Sachs market forecasts; FDA comorbidity indications; company pipeline releases; CMS, CBO, KFF, employer and NICE access evidence. Full URLs are listed in the prior slide notes and the source ledger.</a:t>
            </a:r>
          </a:p>
          <a:p>
            <a:r>
              <a:t>Closing judgment: category leadership by 2030 will depend on ecosystem ownership—drug portfolio, manufacturing, distribution, patient support, monitoring and payer evidence—not a single asset.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jpe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jpe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6.svg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7.jpeg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2.svg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2.svg"/><Relationship Id="rId5" Type="http://schemas.openxmlformats.org/officeDocument/2006/relationships/image" Target="../media/image12.svg"/><Relationship Id="rId10" Type="http://schemas.openxmlformats.org/officeDocument/2006/relationships/image" Target="../media/image16.jpeg"/><Relationship Id="rId4" Type="http://schemas.openxmlformats.org/officeDocument/2006/relationships/image" Target="../media/image1.emf"/><Relationship Id="rId9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2.svg"/><Relationship Id="rId5" Type="http://schemas.openxmlformats.org/officeDocument/2006/relationships/image" Target="../media/image17.sv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7.jpeg"/><Relationship Id="rId5" Type="http://schemas.openxmlformats.org/officeDocument/2006/relationships/image" Target="../media/image8.jpeg"/><Relationship Id="rId10" Type="http://schemas.openxmlformats.org/officeDocument/2006/relationships/image" Target="../media/image20.svg"/><Relationship Id="rId4" Type="http://schemas.openxmlformats.org/officeDocument/2006/relationships/image" Target="../media/image1.emf"/><Relationship Id="rId9" Type="http://schemas.openxmlformats.org/officeDocument/2006/relationships/image" Target="../media/image19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21.svg"/><Relationship Id="rId5" Type="http://schemas.openxmlformats.org/officeDocument/2006/relationships/image" Target="../media/image22.jpe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22.jpeg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21.sv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2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6.svg"/><Relationship Id="rId5" Type="http://schemas.openxmlformats.org/officeDocument/2006/relationships/image" Target="../media/image27.jpe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6.svg"/><Relationship Id="rId5" Type="http://schemas.openxmlformats.org/officeDocument/2006/relationships/image" Target="../media/image28.jpe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6.svg"/><Relationship Id="rId5" Type="http://schemas.openxmlformats.org/officeDocument/2006/relationships/image" Target="../media/image29.jpe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2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30.jpeg"/><Relationship Id="rId5" Type="http://schemas.openxmlformats.org/officeDocument/2006/relationships/image" Target="../media/image6.svg"/><Relationship Id="rId4" Type="http://schemas.openxmlformats.org/officeDocument/2006/relationships/image" Target="../media/image1.emf"/><Relationship Id="rId9" Type="http://schemas.openxmlformats.org/officeDocument/2006/relationships/image" Target="../media/image2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11.jpeg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32.jpeg"/><Relationship Id="rId5" Type="http://schemas.openxmlformats.org/officeDocument/2006/relationships/image" Target="../media/image31.sv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33.sv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067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rgbClr val="140B42"/>
              </a:gs>
              <a:gs pos="80000">
                <a:srgbClr val="005587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BDF996A-067F-C41E-7B0E-6CA1AB5BF3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65812" y="0"/>
            <a:ext cx="9026188" cy="6858000"/>
          </a:xfrm>
          <a:custGeom>
            <a:avLst/>
            <a:gdLst>
              <a:gd name="connsiteX0" fmla="*/ 0 w 9026188"/>
              <a:gd name="connsiteY0" fmla="*/ 0 h 6858000"/>
              <a:gd name="connsiteX1" fmla="*/ 9026188 w 9026188"/>
              <a:gd name="connsiteY1" fmla="*/ 0 h 6858000"/>
              <a:gd name="connsiteX2" fmla="*/ 9026188 w 9026188"/>
              <a:gd name="connsiteY2" fmla="*/ 6858000 h 6858000"/>
              <a:gd name="connsiteX3" fmla="*/ 0 w 9026188"/>
              <a:gd name="connsiteY3" fmla="*/ 6858000 h 6858000"/>
              <a:gd name="connsiteX4" fmla="*/ 3429000 w 9026188"/>
              <a:gd name="connsiteY4" fmla="*/ 3429000 h 6858000"/>
              <a:gd name="connsiteX5" fmla="*/ 0 w 90261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6188" h="6858000">
                <a:moveTo>
                  <a:pt x="0" y="0"/>
                </a:moveTo>
                <a:lnTo>
                  <a:pt x="9026188" y="0"/>
                </a:lnTo>
                <a:lnTo>
                  <a:pt x="9026188" y="6858000"/>
                </a:ln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8A32BA-45AE-C130-28F4-09992A987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128845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81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72F88DAF-07DE-80FF-028B-5A5FF467DA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B0524C2-AB74-83EE-C93A-A95B62225BD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67412" y="0"/>
            <a:ext cx="6434847" cy="6858000"/>
          </a:xfrm>
          <a:custGeom>
            <a:avLst/>
            <a:gdLst>
              <a:gd name="connsiteX0" fmla="*/ 0 w 6434847"/>
              <a:gd name="connsiteY0" fmla="*/ 0 h 6858000"/>
              <a:gd name="connsiteX1" fmla="*/ 3005847 w 6434847"/>
              <a:gd name="connsiteY1" fmla="*/ 0 h 6858000"/>
              <a:gd name="connsiteX2" fmla="*/ 6434847 w 6434847"/>
              <a:gd name="connsiteY2" fmla="*/ 3429000 h 6858000"/>
              <a:gd name="connsiteX3" fmla="*/ 3005847 w 6434847"/>
              <a:gd name="connsiteY3" fmla="*/ 6858000 h 6858000"/>
              <a:gd name="connsiteX4" fmla="*/ 0 w 6434847"/>
              <a:gd name="connsiteY4" fmla="*/ 6858000 h 6858000"/>
              <a:gd name="connsiteX5" fmla="*/ 3429000 w 6434847"/>
              <a:gd name="connsiteY5" fmla="*/ 3429000 h 6858000"/>
              <a:gd name="connsiteX6" fmla="*/ 0 w 6434847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34847" h="6858000">
                <a:moveTo>
                  <a:pt x="0" y="0"/>
                </a:moveTo>
                <a:lnTo>
                  <a:pt x="3005847" y="0"/>
                </a:lnTo>
                <a:cubicBezTo>
                  <a:pt x="4899631" y="0"/>
                  <a:pt x="6434847" y="1535216"/>
                  <a:pt x="6434847" y="3429000"/>
                </a:cubicBezTo>
                <a:cubicBezTo>
                  <a:pt x="6434847" y="5322784"/>
                  <a:pt x="4899631" y="6858000"/>
                  <a:pt x="3005847" y="6858000"/>
                </a:cubicBez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749040" anchor="ctr">
            <a:noAutofit/>
          </a:bodyPr>
          <a:lstStyle>
            <a:lvl1pPr marL="0" indent="0" algn="r"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C55EDFF-03EC-F7FE-A5CE-E9171F0FD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407570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3414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9149D81-FD4B-DC76-CAF0-EE426536CA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98473" y="2"/>
            <a:ext cx="4993529" cy="6857999"/>
          </a:xfrm>
          <a:custGeom>
            <a:avLst/>
            <a:gdLst>
              <a:gd name="connsiteX0" fmla="*/ 1703159 w 4993529"/>
              <a:gd name="connsiteY0" fmla="*/ 0 h 6857999"/>
              <a:gd name="connsiteX1" fmla="*/ 4993529 w 4993529"/>
              <a:gd name="connsiteY1" fmla="*/ 0 h 6857999"/>
              <a:gd name="connsiteX2" fmla="*/ 4993529 w 4993529"/>
              <a:gd name="connsiteY2" fmla="*/ 6857999 h 6857999"/>
              <a:gd name="connsiteX3" fmla="*/ 1703166 w 4993529"/>
              <a:gd name="connsiteY3" fmla="*/ 6857999 h 6857999"/>
              <a:gd name="connsiteX4" fmla="*/ 1566432 w 4993529"/>
              <a:gd name="connsiteY4" fmla="*/ 6750547 h 6857999"/>
              <a:gd name="connsiteX5" fmla="*/ 0 w 4993529"/>
              <a:gd name="connsiteY5" fmla="*/ 3428996 h 6857999"/>
              <a:gd name="connsiteX6" fmla="*/ 1566433 w 4993529"/>
              <a:gd name="connsiteY6" fmla="*/ 10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529" h="6857999">
                <a:moveTo>
                  <a:pt x="1703159" y="0"/>
                </a:moveTo>
                <a:lnTo>
                  <a:pt x="4993529" y="0"/>
                </a:lnTo>
                <a:lnTo>
                  <a:pt x="4993529" y="6857999"/>
                </a:lnTo>
                <a:lnTo>
                  <a:pt x="1703166" y="6857999"/>
                </a:lnTo>
                <a:lnTo>
                  <a:pt x="1566432" y="6750547"/>
                </a:lnTo>
                <a:cubicBezTo>
                  <a:pt x="609773" y="5961041"/>
                  <a:pt x="0" y="4766229"/>
                  <a:pt x="0" y="3428996"/>
                </a:cubicBezTo>
                <a:cubicBezTo>
                  <a:pt x="1" y="2091763"/>
                  <a:pt x="609775" y="896951"/>
                  <a:pt x="1566433" y="107445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8" y="3669831"/>
            <a:ext cx="5578912" cy="9549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6909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83229" y="83754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734FFF4D-C595-1C02-3284-439FA4259BB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D16DF4-1248-421F-6EC8-178149D3D334}"/>
              </a:ext>
            </a:extLst>
          </p:cNvPr>
          <p:cNvSpPr txBox="1"/>
          <p:nvPr userDrawn="1"/>
        </p:nvSpPr>
        <p:spPr bwMode="black">
          <a:xfrm>
            <a:off x="5602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0A5D0DDA-43DE-B7ED-926F-B2A9412B7D7B}"/>
              </a:ext>
            </a:extLst>
          </p:cNvPr>
          <p:cNvSpPr/>
          <p:nvPr userDrawn="1"/>
        </p:nvSpPr>
        <p:spPr>
          <a:xfrm rot="5400000">
            <a:off x="361950" y="349250"/>
            <a:ext cx="551180" cy="1275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40BC821-F126-C42A-9321-67F78D8191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4736677"/>
            <a:ext cx="5578912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094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4448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DE7A219-BFB8-A500-5B97-DA711CAAB05D}"/>
              </a:ext>
            </a:extLst>
          </p:cNvPr>
          <p:cNvSpPr/>
          <p:nvPr userDrawn="1"/>
        </p:nvSpPr>
        <p:spPr>
          <a:xfrm>
            <a:off x="-2" y="-1"/>
            <a:ext cx="12192000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185957"/>
            <a:ext cx="5198505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5683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3F45A5-691A-331A-0A5E-EF9DC3E5E9D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990F88C9-134E-565F-6E26-6417D9962BB5}"/>
              </a:ext>
            </a:extLst>
          </p:cNvPr>
          <p:cNvSpPr/>
          <p:nvPr userDrawn="1"/>
        </p:nvSpPr>
        <p:spPr>
          <a:xfrm rot="5400000">
            <a:off x="1858678" y="1846115"/>
            <a:ext cx="1127091" cy="48444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696104"/>
            <a:ext cx="4187369" cy="11397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A9D05-7CC8-8C49-7E62-59B4C4A868D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36EA6A8-471B-A5CE-D31B-50ED62AD5F2C}"/>
              </a:ext>
            </a:extLst>
          </p:cNvPr>
          <p:cNvSpPr/>
          <p:nvPr userDrawn="1"/>
        </p:nvSpPr>
        <p:spPr>
          <a:xfrm>
            <a:off x="11385549" y="2754630"/>
            <a:ext cx="806451" cy="1520190"/>
          </a:xfrm>
          <a:custGeom>
            <a:avLst/>
            <a:gdLst>
              <a:gd name="connsiteX0" fmla="*/ 760095 w 806451"/>
              <a:gd name="connsiteY0" fmla="*/ 0 h 1520190"/>
              <a:gd name="connsiteX1" fmla="*/ 806451 w 806451"/>
              <a:gd name="connsiteY1" fmla="*/ 0 h 1520190"/>
              <a:gd name="connsiteX2" fmla="*/ 806451 w 806451"/>
              <a:gd name="connsiteY2" fmla="*/ 1520190 h 1520190"/>
              <a:gd name="connsiteX3" fmla="*/ 760095 w 806451"/>
              <a:gd name="connsiteY3" fmla="*/ 1520190 h 1520190"/>
              <a:gd name="connsiteX4" fmla="*/ 0 w 806451"/>
              <a:gd name="connsiteY4" fmla="*/ 760095 h 1520190"/>
              <a:gd name="connsiteX5" fmla="*/ 760095 w 806451"/>
              <a:gd name="connsiteY5" fmla="*/ 0 h 152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451" h="1520190">
                <a:moveTo>
                  <a:pt x="760095" y="0"/>
                </a:moveTo>
                <a:lnTo>
                  <a:pt x="806451" y="0"/>
                </a:lnTo>
                <a:lnTo>
                  <a:pt x="806451" y="1520190"/>
                </a:lnTo>
                <a:lnTo>
                  <a:pt x="760095" y="1520190"/>
                </a:lnTo>
                <a:cubicBezTo>
                  <a:pt x="340306" y="1520190"/>
                  <a:pt x="0" y="1179884"/>
                  <a:pt x="0" y="760095"/>
                </a:cubicBezTo>
                <a:cubicBezTo>
                  <a:pt x="0" y="340306"/>
                  <a:pt x="340306" y="0"/>
                  <a:pt x="760095" y="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B1090A-172E-249E-20D1-9ED6F9778154}"/>
              </a:ext>
            </a:extLst>
          </p:cNvPr>
          <p:cNvSpPr/>
          <p:nvPr userDrawn="1"/>
        </p:nvSpPr>
        <p:spPr>
          <a:xfrm>
            <a:off x="8154670" y="3101975"/>
            <a:ext cx="825500" cy="825500"/>
          </a:xfrm>
          <a:prstGeom prst="ellipse">
            <a:avLst/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78834BD-6122-8897-155C-7D8AAA482567}"/>
              </a:ext>
            </a:extLst>
          </p:cNvPr>
          <p:cNvSpPr/>
          <p:nvPr userDrawn="1"/>
        </p:nvSpPr>
        <p:spPr>
          <a:xfrm>
            <a:off x="5938520" y="882316"/>
            <a:ext cx="2494280" cy="96393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536A388-F38A-423D-0271-552744C160CC}"/>
              </a:ext>
            </a:extLst>
          </p:cNvPr>
          <p:cNvSpPr/>
          <p:nvPr userDrawn="1"/>
        </p:nvSpPr>
        <p:spPr>
          <a:xfrm>
            <a:off x="10173970" y="5084778"/>
            <a:ext cx="2018031" cy="782320"/>
          </a:xfrm>
          <a:custGeom>
            <a:avLst/>
            <a:gdLst>
              <a:gd name="connsiteX0" fmla="*/ 391160 w 2018031"/>
              <a:gd name="connsiteY0" fmla="*/ 0 h 782320"/>
              <a:gd name="connsiteX1" fmla="*/ 2018031 w 2018031"/>
              <a:gd name="connsiteY1" fmla="*/ 0 h 782320"/>
              <a:gd name="connsiteX2" fmla="*/ 2018031 w 2018031"/>
              <a:gd name="connsiteY2" fmla="*/ 782320 h 782320"/>
              <a:gd name="connsiteX3" fmla="*/ 391160 w 2018031"/>
              <a:gd name="connsiteY3" fmla="*/ 782320 h 782320"/>
              <a:gd name="connsiteX4" fmla="*/ 0 w 2018031"/>
              <a:gd name="connsiteY4" fmla="*/ 391160 h 782320"/>
              <a:gd name="connsiteX5" fmla="*/ 391160 w 2018031"/>
              <a:gd name="connsiteY5" fmla="*/ 0 h 782320"/>
              <a:gd name="connsiteX0" fmla="*/ 2018031 w 2109471"/>
              <a:gd name="connsiteY0" fmla="*/ 782320 h 873760"/>
              <a:gd name="connsiteX1" fmla="*/ 391160 w 2109471"/>
              <a:gd name="connsiteY1" fmla="*/ 782320 h 873760"/>
              <a:gd name="connsiteX2" fmla="*/ 0 w 2109471"/>
              <a:gd name="connsiteY2" fmla="*/ 391160 h 873760"/>
              <a:gd name="connsiteX3" fmla="*/ 391160 w 2109471"/>
              <a:gd name="connsiteY3" fmla="*/ 0 h 873760"/>
              <a:gd name="connsiteX4" fmla="*/ 2018031 w 2109471"/>
              <a:gd name="connsiteY4" fmla="*/ 0 h 873760"/>
              <a:gd name="connsiteX5" fmla="*/ 2109471 w 2109471"/>
              <a:gd name="connsiteY5" fmla="*/ 873760 h 873760"/>
              <a:gd name="connsiteX0" fmla="*/ 2018031 w 2018031"/>
              <a:gd name="connsiteY0" fmla="*/ 782320 h 782320"/>
              <a:gd name="connsiteX1" fmla="*/ 391160 w 2018031"/>
              <a:gd name="connsiteY1" fmla="*/ 782320 h 782320"/>
              <a:gd name="connsiteX2" fmla="*/ 0 w 2018031"/>
              <a:gd name="connsiteY2" fmla="*/ 391160 h 782320"/>
              <a:gd name="connsiteX3" fmla="*/ 391160 w 2018031"/>
              <a:gd name="connsiteY3" fmla="*/ 0 h 782320"/>
              <a:gd name="connsiteX4" fmla="*/ 2018031 w 2018031"/>
              <a:gd name="connsiteY4" fmla="*/ 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8031" h="782320">
                <a:moveTo>
                  <a:pt x="2018031" y="782320"/>
                </a:moveTo>
                <a:lnTo>
                  <a:pt x="391160" y="782320"/>
                </a:lnTo>
                <a:cubicBezTo>
                  <a:pt x="175128" y="782320"/>
                  <a:pt x="0" y="607192"/>
                  <a:pt x="0" y="391160"/>
                </a:cubicBezTo>
                <a:cubicBezTo>
                  <a:pt x="0" y="175128"/>
                  <a:pt x="175128" y="0"/>
                  <a:pt x="391160" y="0"/>
                </a:cubicBezTo>
                <a:lnTo>
                  <a:pt x="2018031" y="0"/>
                </a:lnTo>
              </a:path>
            </a:pathLst>
          </a:cu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4B3972EC-C773-5A43-FB97-099CB4BCD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2975" y="4600908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21C08761-BCFD-2804-56C5-147560B2751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11025" y="2779604"/>
            <a:ext cx="1470242" cy="1470242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 wrap="non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image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93C421-0BFF-D458-4C46-91C277AFC2F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69200" y="488950"/>
            <a:ext cx="3587750" cy="1750662"/>
          </a:xfrm>
          <a:custGeom>
            <a:avLst/>
            <a:gdLst>
              <a:gd name="connsiteX0" fmla="*/ 875331 w 3587750"/>
              <a:gd name="connsiteY0" fmla="*/ 0 h 1750662"/>
              <a:gd name="connsiteX1" fmla="*/ 2712419 w 3587750"/>
              <a:gd name="connsiteY1" fmla="*/ 0 h 1750662"/>
              <a:gd name="connsiteX2" fmla="*/ 3587750 w 3587750"/>
              <a:gd name="connsiteY2" fmla="*/ 875331 h 1750662"/>
              <a:gd name="connsiteX3" fmla="*/ 2712419 w 3587750"/>
              <a:gd name="connsiteY3" fmla="*/ 1750662 h 1750662"/>
              <a:gd name="connsiteX4" fmla="*/ 875331 w 3587750"/>
              <a:gd name="connsiteY4" fmla="*/ 1750662 h 1750662"/>
              <a:gd name="connsiteX5" fmla="*/ 0 w 3587750"/>
              <a:gd name="connsiteY5" fmla="*/ 875331 h 1750662"/>
              <a:gd name="connsiteX6" fmla="*/ 875331 w 3587750"/>
              <a:gd name="connsiteY6" fmla="*/ 0 h 175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7750" h="1750662">
                <a:moveTo>
                  <a:pt x="875331" y="0"/>
                </a:moveTo>
                <a:lnTo>
                  <a:pt x="2712419" y="0"/>
                </a:lnTo>
                <a:cubicBezTo>
                  <a:pt x="3195851" y="0"/>
                  <a:pt x="3587750" y="391899"/>
                  <a:pt x="3587750" y="875331"/>
                </a:cubicBezTo>
                <a:cubicBezTo>
                  <a:pt x="3587750" y="1358763"/>
                  <a:pt x="3195851" y="1750662"/>
                  <a:pt x="2712419" y="1750662"/>
                </a:cubicBezTo>
                <a:lnTo>
                  <a:pt x="875331" y="1750662"/>
                </a:lnTo>
                <a:cubicBezTo>
                  <a:pt x="391899" y="1750662"/>
                  <a:pt x="0" y="1358763"/>
                  <a:pt x="0" y="875331"/>
                </a:cubicBezTo>
                <a:cubicBezTo>
                  <a:pt x="0" y="391899"/>
                  <a:pt x="391899" y="0"/>
                  <a:pt x="875331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10DB0DD-3550-AA3A-3964-0928F4F142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187369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6657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2111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EF3D7E1-E5A6-9F41-9CF8-AAAEB02D2F1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FB796EA-5FE4-C00B-C632-B6DD2037CA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2F89F06-2842-6C78-F8B9-DF481DE16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8369" y="454542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9011B2-930B-2726-A34F-9595F38F67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369" y="2283169"/>
            <a:ext cx="4849931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7DEC49-9F6E-FEDD-D9A7-746572D694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369" y="174051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FBDBE-CB0C-FA03-27E9-222DD602C14A}"/>
              </a:ext>
            </a:extLst>
          </p:cNvPr>
          <p:cNvSpPr txBox="1"/>
          <p:nvPr userDrawn="1"/>
        </p:nvSpPr>
        <p:spPr bwMode="black">
          <a:xfrm>
            <a:off x="40754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787C3C-B50B-409B-D239-AC6FD72699C3}"/>
              </a:ext>
            </a:extLst>
          </p:cNvPr>
          <p:cNvGrpSpPr/>
          <p:nvPr userDrawn="1"/>
        </p:nvGrpSpPr>
        <p:grpSpPr>
          <a:xfrm>
            <a:off x="-5079" y="0"/>
            <a:ext cx="6333420" cy="6858000"/>
            <a:chOff x="16581" y="0"/>
            <a:chExt cx="6333420" cy="685800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C25A6BEA-005B-9875-2AE7-6D57A7F0472B}"/>
                </a:ext>
              </a:extLst>
            </p:cNvPr>
            <p:cNvSpPr/>
            <p:nvPr userDrawn="1"/>
          </p:nvSpPr>
          <p:spPr>
            <a:xfrm rot="5400000">
              <a:off x="5116" y="2759744"/>
              <a:ext cx="4114800" cy="40817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 b="1" err="1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FBA484-25CD-1779-3A38-65ED15CCD6D6}"/>
                </a:ext>
              </a:extLst>
            </p:cNvPr>
            <p:cNvSpPr/>
            <p:nvPr userDrawn="1"/>
          </p:nvSpPr>
          <p:spPr>
            <a:xfrm>
              <a:off x="21660" y="0"/>
              <a:ext cx="6328341" cy="5552111"/>
            </a:xfrm>
            <a:custGeom>
              <a:avLst/>
              <a:gdLst>
                <a:gd name="connsiteX0" fmla="*/ 0 w 6328341"/>
                <a:gd name="connsiteY0" fmla="*/ 0 h 5552111"/>
                <a:gd name="connsiteX1" fmla="*/ 6328341 w 6328341"/>
                <a:gd name="connsiteY1" fmla="*/ 0 h 5552111"/>
                <a:gd name="connsiteX2" fmla="*/ 6328341 w 6328341"/>
                <a:gd name="connsiteY2" fmla="*/ 2377111 h 5552111"/>
                <a:gd name="connsiteX3" fmla="*/ 3153341 w 6328341"/>
                <a:gd name="connsiteY3" fmla="*/ 5552111 h 5552111"/>
                <a:gd name="connsiteX4" fmla="*/ 42846 w 6328341"/>
                <a:gd name="connsiteY4" fmla="*/ 3016984 h 5552111"/>
                <a:gd name="connsiteX5" fmla="*/ 0 w 6328341"/>
                <a:gd name="connsiteY5" fmla="*/ 2736246 h 555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28341" h="5552111">
                  <a:moveTo>
                    <a:pt x="0" y="0"/>
                  </a:moveTo>
                  <a:lnTo>
                    <a:pt x="6328341" y="0"/>
                  </a:lnTo>
                  <a:lnTo>
                    <a:pt x="6328341" y="2377111"/>
                  </a:lnTo>
                  <a:cubicBezTo>
                    <a:pt x="6328341" y="4130615"/>
                    <a:pt x="4906845" y="5552111"/>
                    <a:pt x="3153341" y="5552111"/>
                  </a:cubicBezTo>
                  <a:cubicBezTo>
                    <a:pt x="1619025" y="5552111"/>
                    <a:pt x="338903" y="4463778"/>
                    <a:pt x="42846" y="3016984"/>
                  </a:cubicBezTo>
                  <a:lnTo>
                    <a:pt x="0" y="2736246"/>
                  </a:lnTo>
                  <a:close/>
                </a:path>
              </a:pathLst>
            </a:custGeom>
            <a:gradFill>
              <a:gsLst>
                <a:gs pos="75000">
                  <a:srgbClr val="140A42"/>
                </a:gs>
                <a:gs pos="0">
                  <a:srgbClr val="00CCFF"/>
                </a:gs>
              </a:gsLst>
              <a:lin ang="13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US" sz="1600" b="1" err="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9BA332-9382-C19F-66FE-99AB2FD12525}"/>
                </a:ext>
              </a:extLst>
            </p:cNvPr>
            <p:cNvSpPr/>
            <p:nvPr userDrawn="1"/>
          </p:nvSpPr>
          <p:spPr>
            <a:xfrm rot="5400000">
              <a:off x="652981" y="2106800"/>
              <a:ext cx="2808911" cy="4081711"/>
            </a:xfrm>
            <a:custGeom>
              <a:avLst/>
              <a:gdLst>
                <a:gd name="connsiteX0" fmla="*/ 0 w 2808911"/>
                <a:gd name="connsiteY0" fmla="*/ 4081711 h 4081711"/>
                <a:gd name="connsiteX1" fmla="*/ 0 w 2808911"/>
                <a:gd name="connsiteY1" fmla="*/ 2051686 h 4081711"/>
                <a:gd name="connsiteX2" fmla="*/ 2051686 w 2808911"/>
                <a:gd name="connsiteY2" fmla="*/ 0 h 4081711"/>
                <a:gd name="connsiteX3" fmla="*/ 2063115 w 2808911"/>
                <a:gd name="connsiteY3" fmla="*/ 0 h 4081711"/>
                <a:gd name="connsiteX4" fmla="*/ 2673224 w 2808911"/>
                <a:gd name="connsiteY4" fmla="*/ 92240 h 4081711"/>
                <a:gd name="connsiteX5" fmla="*/ 2699582 w 2808911"/>
                <a:gd name="connsiteY5" fmla="*/ 101887 h 4081711"/>
                <a:gd name="connsiteX6" fmla="*/ 2708954 w 2808911"/>
                <a:gd name="connsiteY6" fmla="*/ 134890 h 4081711"/>
                <a:gd name="connsiteX7" fmla="*/ 2808911 w 2808911"/>
                <a:gd name="connsiteY7" fmla="*/ 928372 h 4081711"/>
                <a:gd name="connsiteX8" fmla="*/ 117432 w 2808911"/>
                <a:gd name="connsiteY8" fmla="*/ 4066789 h 4081711"/>
                <a:gd name="connsiteX9" fmla="*/ 0 w 2808911"/>
                <a:gd name="connsiteY9" fmla="*/ 4081711 h 408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08911" h="4081711">
                  <a:moveTo>
                    <a:pt x="0" y="4081711"/>
                  </a:moveTo>
                  <a:lnTo>
                    <a:pt x="0" y="2051686"/>
                  </a:lnTo>
                  <a:cubicBezTo>
                    <a:pt x="0" y="918571"/>
                    <a:pt x="918572" y="-1"/>
                    <a:pt x="2051686" y="0"/>
                  </a:cubicBezTo>
                  <a:lnTo>
                    <a:pt x="2063115" y="0"/>
                  </a:lnTo>
                  <a:cubicBezTo>
                    <a:pt x="2275574" y="0"/>
                    <a:pt x="2480491" y="32293"/>
                    <a:pt x="2673224" y="92240"/>
                  </a:cubicBezTo>
                  <a:lnTo>
                    <a:pt x="2699582" y="101887"/>
                  </a:lnTo>
                  <a:lnTo>
                    <a:pt x="2708954" y="134890"/>
                  </a:lnTo>
                  <a:cubicBezTo>
                    <a:pt x="2774207" y="388507"/>
                    <a:pt x="2808911" y="654387"/>
                    <a:pt x="2808911" y="928372"/>
                  </a:cubicBezTo>
                  <a:cubicBezTo>
                    <a:pt x="2808911" y="2517485"/>
                    <a:pt x="1641452" y="3833923"/>
                    <a:pt x="117432" y="4066789"/>
                  </a:cubicBezTo>
                  <a:lnTo>
                    <a:pt x="0" y="4081711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 b="1" err="1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4565F74-6607-D645-F5A7-0A5632621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8369" y="575394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103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855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CCE057E2-8B7A-030D-538C-6C18EF640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241300"/>
            <a:ext cx="11868149" cy="636269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DF00FD-7F50-5F6A-0211-01F10C408F79}"/>
              </a:ext>
            </a:extLst>
          </p:cNvPr>
          <p:cNvSpPr/>
          <p:nvPr userDrawn="1"/>
        </p:nvSpPr>
        <p:spPr>
          <a:xfrm rot="2700000">
            <a:off x="9559085" y="-38969"/>
            <a:ext cx="1593806" cy="357200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54E32E-29E1-0CE9-9EB3-4299AC5BA551}"/>
              </a:ext>
            </a:extLst>
          </p:cNvPr>
          <p:cNvSpPr/>
          <p:nvPr userDrawn="1"/>
        </p:nvSpPr>
        <p:spPr>
          <a:xfrm rot="2700000">
            <a:off x="9854559" y="1343244"/>
            <a:ext cx="592131" cy="3587612"/>
          </a:xfrm>
          <a:prstGeom prst="roundRect">
            <a:avLst>
              <a:gd name="adj" fmla="val 5000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3A17EB4-0511-A9D6-5B78-5B9A582D9D64}"/>
              </a:ext>
            </a:extLst>
          </p:cNvPr>
          <p:cNvSpPr/>
          <p:nvPr userDrawn="1"/>
        </p:nvSpPr>
        <p:spPr>
          <a:xfrm rot="2700000">
            <a:off x="8557688" y="693470"/>
            <a:ext cx="2580562" cy="3142418"/>
          </a:xfrm>
          <a:custGeom>
            <a:avLst/>
            <a:gdLst>
              <a:gd name="connsiteX0" fmla="*/ 0 w 2580562"/>
              <a:gd name="connsiteY0" fmla="*/ 944206 h 4086624"/>
              <a:gd name="connsiteX1" fmla="*/ 704269 w 2580562"/>
              <a:gd name="connsiteY1" fmla="*/ 239938 h 4086624"/>
              <a:gd name="connsiteX2" fmla="*/ 1862790 w 2580562"/>
              <a:gd name="connsiteY2" fmla="*/ 239938 h 4086624"/>
              <a:gd name="connsiteX3" fmla="*/ 2580562 w 2580562"/>
              <a:gd name="connsiteY3" fmla="*/ 957710 h 4086624"/>
              <a:gd name="connsiteX4" fmla="*/ 2580562 w 2580562"/>
              <a:gd name="connsiteY4" fmla="*/ 2796343 h 4086624"/>
              <a:gd name="connsiteX5" fmla="*/ 1290281 w 2580562"/>
              <a:gd name="connsiteY5" fmla="*/ 4086624 h 4086624"/>
              <a:gd name="connsiteX6" fmla="*/ 0 w 2580562"/>
              <a:gd name="connsiteY6" fmla="*/ 2796343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7" fmla="*/ 795709 w 2580562"/>
              <a:gd name="connsiteY7" fmla="*/ 331378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0" fmla="*/ 1862790 w 2580562"/>
              <a:gd name="connsiteY0" fmla="*/ 0 h 3846686"/>
              <a:gd name="connsiteX1" fmla="*/ 2580562 w 2580562"/>
              <a:gd name="connsiteY1" fmla="*/ 717772 h 3846686"/>
              <a:gd name="connsiteX2" fmla="*/ 2580562 w 2580562"/>
              <a:gd name="connsiteY2" fmla="*/ 2556405 h 3846686"/>
              <a:gd name="connsiteX3" fmla="*/ 1290281 w 2580562"/>
              <a:gd name="connsiteY3" fmla="*/ 3846686 h 3846686"/>
              <a:gd name="connsiteX4" fmla="*/ 0 w 2580562"/>
              <a:gd name="connsiteY4" fmla="*/ 2556405 h 3846686"/>
              <a:gd name="connsiteX5" fmla="*/ 0 w 2580562"/>
              <a:gd name="connsiteY5" fmla="*/ 704268 h 3846686"/>
              <a:gd name="connsiteX0" fmla="*/ 2580562 w 2580562"/>
              <a:gd name="connsiteY0" fmla="*/ 13504 h 3142418"/>
              <a:gd name="connsiteX1" fmla="*/ 2580562 w 2580562"/>
              <a:gd name="connsiteY1" fmla="*/ 1852137 h 3142418"/>
              <a:gd name="connsiteX2" fmla="*/ 1290281 w 2580562"/>
              <a:gd name="connsiteY2" fmla="*/ 3142418 h 3142418"/>
              <a:gd name="connsiteX3" fmla="*/ 0 w 2580562"/>
              <a:gd name="connsiteY3" fmla="*/ 1852137 h 3142418"/>
              <a:gd name="connsiteX4" fmla="*/ 0 w 2580562"/>
              <a:gd name="connsiteY4" fmla="*/ 0 h 314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0562" h="3142418">
                <a:moveTo>
                  <a:pt x="2580562" y="13504"/>
                </a:moveTo>
                <a:lnTo>
                  <a:pt x="2580562" y="1852137"/>
                </a:lnTo>
                <a:cubicBezTo>
                  <a:pt x="2580562" y="2564740"/>
                  <a:pt x="2002884" y="3142418"/>
                  <a:pt x="1290281" y="3142418"/>
                </a:cubicBezTo>
                <a:cubicBezTo>
                  <a:pt x="577678" y="3142418"/>
                  <a:pt x="0" y="2564740"/>
                  <a:pt x="0" y="185213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79552D8-93AA-1558-53CF-B3AA2441C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2DB327D4-53F8-A02D-FD4B-DE3CE5FC3F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6716020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D4F7CBF-B263-6DFD-1E56-2BCBA31644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6716020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E612B469-E30C-E96F-0490-0578267862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96005-FB39-2120-DA4B-99A6851C070A}"/>
              </a:ext>
            </a:extLst>
          </p:cNvPr>
          <p:cNvSpPr txBox="1"/>
          <p:nvPr userDrawn="1"/>
        </p:nvSpPr>
        <p:spPr bwMode="black">
          <a:xfrm>
            <a:off x="560269" y="66215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178ED566-AC4C-DB1A-FBA8-411D294AA9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871D7E5-7016-D225-9AA1-16FDB1DA9B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5680710"/>
            <a:ext cx="6716020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5382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312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739BB318-2FA2-9BC0-C500-B054B13E410C}"/>
              </a:ext>
            </a:extLst>
          </p:cNvPr>
          <p:cNvSpPr/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257E79C-F908-FC57-48EB-74840AB780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6138" y="1574801"/>
            <a:ext cx="1566472" cy="5029200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460FB5-1D71-63A8-83DD-7C183AC8C704}"/>
              </a:ext>
            </a:extLst>
          </p:cNvPr>
          <p:cNvSpPr>
            <a:spLocks/>
          </p:cNvSpPr>
          <p:nvPr userDrawn="1"/>
        </p:nvSpPr>
        <p:spPr>
          <a:xfrm>
            <a:off x="6115326" y="6091026"/>
            <a:ext cx="1562353" cy="751899"/>
          </a:xfrm>
          <a:custGeom>
            <a:avLst/>
            <a:gdLst>
              <a:gd name="connsiteX0" fmla="*/ 781177 w 1562353"/>
              <a:gd name="connsiteY0" fmla="*/ 0 h 751899"/>
              <a:gd name="connsiteX1" fmla="*/ 1549698 w 1562353"/>
              <a:gd name="connsiteY1" fmla="*/ 626363 h 751899"/>
              <a:gd name="connsiteX2" fmla="*/ 1562353 w 1562353"/>
              <a:gd name="connsiteY2" fmla="*/ 751899 h 751899"/>
              <a:gd name="connsiteX3" fmla="*/ 0 w 1562353"/>
              <a:gd name="connsiteY3" fmla="*/ 751899 h 751899"/>
              <a:gd name="connsiteX4" fmla="*/ 12655 w 1562353"/>
              <a:gd name="connsiteY4" fmla="*/ 626363 h 751899"/>
              <a:gd name="connsiteX5" fmla="*/ 781177 w 1562353"/>
              <a:gd name="connsiteY5" fmla="*/ 0 h 75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2353" h="751899">
                <a:moveTo>
                  <a:pt x="781177" y="0"/>
                </a:moveTo>
                <a:cubicBezTo>
                  <a:pt x="1160266" y="0"/>
                  <a:pt x="1476550" y="268899"/>
                  <a:pt x="1549698" y="626363"/>
                </a:cubicBezTo>
                <a:lnTo>
                  <a:pt x="1562353" y="751899"/>
                </a:lnTo>
                <a:lnTo>
                  <a:pt x="0" y="751899"/>
                </a:lnTo>
                <a:lnTo>
                  <a:pt x="12655" y="626363"/>
                </a:lnTo>
                <a:cubicBezTo>
                  <a:pt x="85803" y="268899"/>
                  <a:pt x="402087" y="0"/>
                  <a:pt x="781177" y="0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2AAAAF4-7481-56CC-28C1-4AD28C235C0D}"/>
              </a:ext>
            </a:extLst>
          </p:cNvPr>
          <p:cNvSpPr/>
          <p:nvPr userDrawn="1"/>
        </p:nvSpPr>
        <p:spPr>
          <a:xfrm>
            <a:off x="9914020" y="4855317"/>
            <a:ext cx="1574088" cy="1987609"/>
          </a:xfrm>
          <a:custGeom>
            <a:avLst/>
            <a:gdLst>
              <a:gd name="connsiteX0" fmla="*/ 1557049 w 1574088"/>
              <a:gd name="connsiteY0" fmla="*/ 0 h 1987609"/>
              <a:gd name="connsiteX1" fmla="*/ 1574088 w 1574088"/>
              <a:gd name="connsiteY1" fmla="*/ 1718 h 1987609"/>
              <a:gd name="connsiteX2" fmla="*/ 1574088 w 1574088"/>
              <a:gd name="connsiteY2" fmla="*/ 1987609 h 1987609"/>
              <a:gd name="connsiteX3" fmla="*/ 0 w 1574088"/>
              <a:gd name="connsiteY3" fmla="*/ 1987609 h 1987609"/>
              <a:gd name="connsiteX4" fmla="*/ 0 w 1574088"/>
              <a:gd name="connsiteY4" fmla="*/ 1557049 h 1987609"/>
              <a:gd name="connsiteX5" fmla="*/ 1557049 w 1574088"/>
              <a:gd name="connsiteY5" fmla="*/ 0 h 1987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088" h="1987609">
                <a:moveTo>
                  <a:pt x="1557049" y="0"/>
                </a:moveTo>
                <a:lnTo>
                  <a:pt x="1574088" y="1718"/>
                </a:lnTo>
                <a:lnTo>
                  <a:pt x="1574088" y="1987609"/>
                </a:lnTo>
                <a:lnTo>
                  <a:pt x="0" y="1987609"/>
                </a:lnTo>
                <a:lnTo>
                  <a:pt x="0" y="1557049"/>
                </a:lnTo>
                <a:cubicBezTo>
                  <a:pt x="0" y="697115"/>
                  <a:pt x="697115" y="0"/>
                  <a:pt x="1557049" y="0"/>
                </a:cubicBezTo>
                <a:close/>
              </a:path>
            </a:pathLst>
          </a:cu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3F0253-1103-0501-0DDE-FBAF667D32CE}"/>
              </a:ext>
            </a:extLst>
          </p:cNvPr>
          <p:cNvSpPr/>
          <p:nvPr userDrawn="1"/>
        </p:nvSpPr>
        <p:spPr>
          <a:xfrm>
            <a:off x="11821584" y="743158"/>
            <a:ext cx="375516" cy="1813796"/>
          </a:xfrm>
          <a:custGeom>
            <a:avLst/>
            <a:gdLst>
              <a:gd name="connsiteX0" fmla="*/ 375516 w 375516"/>
              <a:gd name="connsiteY0" fmla="*/ 0 h 1813796"/>
              <a:gd name="connsiteX1" fmla="*/ 375516 w 375516"/>
              <a:gd name="connsiteY1" fmla="*/ 1813796 h 1813796"/>
              <a:gd name="connsiteX2" fmla="*/ 287640 w 375516"/>
              <a:gd name="connsiteY2" fmla="*/ 1786518 h 1813796"/>
              <a:gd name="connsiteX3" fmla="*/ 0 w 375516"/>
              <a:gd name="connsiteY3" fmla="*/ 1352570 h 1813796"/>
              <a:gd name="connsiteX4" fmla="*/ 0 w 375516"/>
              <a:gd name="connsiteY4" fmla="*/ 461226 h 1813796"/>
              <a:gd name="connsiteX5" fmla="*/ 287640 w 375516"/>
              <a:gd name="connsiteY5" fmla="*/ 27278 h 181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516" h="1813796">
                <a:moveTo>
                  <a:pt x="375516" y="0"/>
                </a:moveTo>
                <a:lnTo>
                  <a:pt x="375516" y="1813796"/>
                </a:lnTo>
                <a:lnTo>
                  <a:pt x="287640" y="1786518"/>
                </a:lnTo>
                <a:cubicBezTo>
                  <a:pt x="118606" y="1715023"/>
                  <a:pt x="0" y="1547648"/>
                  <a:pt x="0" y="1352570"/>
                </a:cubicBezTo>
                <a:lnTo>
                  <a:pt x="0" y="461226"/>
                </a:lnTo>
                <a:cubicBezTo>
                  <a:pt x="0" y="266149"/>
                  <a:pt x="118606" y="98774"/>
                  <a:pt x="287640" y="27278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7676A29-7E8F-1D6A-EC1B-460D31DC64E0}"/>
              </a:ext>
            </a:extLst>
          </p:cNvPr>
          <p:cNvSpPr/>
          <p:nvPr userDrawn="1"/>
        </p:nvSpPr>
        <p:spPr>
          <a:xfrm>
            <a:off x="11834966" y="2890625"/>
            <a:ext cx="362135" cy="3952299"/>
          </a:xfrm>
          <a:custGeom>
            <a:avLst/>
            <a:gdLst>
              <a:gd name="connsiteX0" fmla="*/ 362135 w 362135"/>
              <a:gd name="connsiteY0" fmla="*/ 0 h 3952299"/>
              <a:gd name="connsiteX1" fmla="*/ 362135 w 362135"/>
              <a:gd name="connsiteY1" fmla="*/ 3952299 h 3952299"/>
              <a:gd name="connsiteX2" fmla="*/ 345157 w 362135"/>
              <a:gd name="connsiteY2" fmla="*/ 3947029 h 3952299"/>
              <a:gd name="connsiteX3" fmla="*/ 0 w 362135"/>
              <a:gd name="connsiteY3" fmla="*/ 3426307 h 3952299"/>
              <a:gd name="connsiteX4" fmla="*/ 0 w 362135"/>
              <a:gd name="connsiteY4" fmla="*/ 525991 h 3952299"/>
              <a:gd name="connsiteX5" fmla="*/ 345157 w 362135"/>
              <a:gd name="connsiteY5" fmla="*/ 5270 h 3952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2135" h="3952299">
                <a:moveTo>
                  <a:pt x="362135" y="0"/>
                </a:moveTo>
                <a:lnTo>
                  <a:pt x="362135" y="3952299"/>
                </a:lnTo>
                <a:lnTo>
                  <a:pt x="345157" y="3947029"/>
                </a:lnTo>
                <a:cubicBezTo>
                  <a:pt x="142323" y="3861237"/>
                  <a:pt x="0" y="3660393"/>
                  <a:pt x="0" y="3426307"/>
                </a:cubicBezTo>
                <a:lnTo>
                  <a:pt x="0" y="525991"/>
                </a:lnTo>
                <a:cubicBezTo>
                  <a:pt x="0" y="291906"/>
                  <a:pt x="142323" y="91062"/>
                  <a:pt x="345157" y="527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A9941B5D-B587-2CD8-1E2F-5B1501282D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3F0ED94-D4EA-C9DE-D42F-D4FB64467424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4F16AE3-C94B-2D66-8339-457C0CFF03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8391" y="6350"/>
            <a:ext cx="1579288" cy="2314574"/>
          </a:xfrm>
          <a:custGeom>
            <a:avLst/>
            <a:gdLst>
              <a:gd name="connsiteX0" fmla="*/ 0 w 1579288"/>
              <a:gd name="connsiteY0" fmla="*/ 0 h 2314574"/>
              <a:gd name="connsiteX1" fmla="*/ 1579288 w 1579288"/>
              <a:gd name="connsiteY1" fmla="*/ 0 h 2314574"/>
              <a:gd name="connsiteX2" fmla="*/ 1579288 w 1579288"/>
              <a:gd name="connsiteY2" fmla="*/ 1524930 h 2314574"/>
              <a:gd name="connsiteX3" fmla="*/ 789644 w 1579288"/>
              <a:gd name="connsiteY3" fmla="*/ 2314574 h 2314574"/>
              <a:gd name="connsiteX4" fmla="*/ 0 w 1579288"/>
              <a:gd name="connsiteY4" fmla="*/ 1524930 h 231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9288" h="2314574">
                <a:moveTo>
                  <a:pt x="0" y="0"/>
                </a:moveTo>
                <a:lnTo>
                  <a:pt x="1579288" y="0"/>
                </a:lnTo>
                <a:lnTo>
                  <a:pt x="1579288" y="1524930"/>
                </a:lnTo>
                <a:cubicBezTo>
                  <a:pt x="1579288" y="1961038"/>
                  <a:pt x="1225752" y="2314574"/>
                  <a:pt x="789644" y="2314574"/>
                </a:cubicBezTo>
                <a:cubicBezTo>
                  <a:pt x="353536" y="2314574"/>
                  <a:pt x="0" y="1961038"/>
                  <a:pt x="0" y="1524930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39A5091-7454-13CA-923E-0745779CED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391" y="2454442"/>
            <a:ext cx="1579288" cy="3489158"/>
          </a:xfrm>
          <a:custGeom>
            <a:avLst/>
            <a:gdLst>
              <a:gd name="connsiteX0" fmla="*/ 789644 w 1579288"/>
              <a:gd name="connsiteY0" fmla="*/ 0 h 3489158"/>
              <a:gd name="connsiteX1" fmla="*/ 1579288 w 1579288"/>
              <a:gd name="connsiteY1" fmla="*/ 789644 h 3489158"/>
              <a:gd name="connsiteX2" fmla="*/ 1579288 w 1579288"/>
              <a:gd name="connsiteY2" fmla="*/ 2699514 h 3489158"/>
              <a:gd name="connsiteX3" fmla="*/ 789644 w 1579288"/>
              <a:gd name="connsiteY3" fmla="*/ 3489158 h 3489158"/>
              <a:gd name="connsiteX4" fmla="*/ 0 w 1579288"/>
              <a:gd name="connsiteY4" fmla="*/ 2699514 h 3489158"/>
              <a:gd name="connsiteX5" fmla="*/ 0 w 1579288"/>
              <a:gd name="connsiteY5" fmla="*/ 789644 h 3489158"/>
              <a:gd name="connsiteX6" fmla="*/ 789644 w 1579288"/>
              <a:gd name="connsiteY6" fmla="*/ 0 h 348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9288" h="3489158">
                <a:moveTo>
                  <a:pt x="789644" y="0"/>
                </a:moveTo>
                <a:cubicBezTo>
                  <a:pt x="1225752" y="0"/>
                  <a:pt x="1579288" y="353536"/>
                  <a:pt x="1579288" y="789644"/>
                </a:cubicBezTo>
                <a:lnTo>
                  <a:pt x="1579288" y="2699514"/>
                </a:lnTo>
                <a:cubicBezTo>
                  <a:pt x="1579288" y="3135622"/>
                  <a:pt x="1225752" y="3489158"/>
                  <a:pt x="789644" y="3489158"/>
                </a:cubicBezTo>
                <a:cubicBezTo>
                  <a:pt x="353536" y="3489158"/>
                  <a:pt x="0" y="3135622"/>
                  <a:pt x="0" y="2699514"/>
                </a:cubicBezTo>
                <a:lnTo>
                  <a:pt x="0" y="789644"/>
                </a:lnTo>
                <a:cubicBezTo>
                  <a:pt x="0" y="353536"/>
                  <a:pt x="353536" y="0"/>
                  <a:pt x="789644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BF50C530-E22F-4FAC-5759-3DBBAD403F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70" y="4513255"/>
            <a:ext cx="516934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1CB714-76EF-FC5F-FA21-AAC2687A78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70" y="2292059"/>
            <a:ext cx="516934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A1AF35-E214-5937-C222-35F7C8B613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BDCA1FD-A8D4-1358-1CE3-87CF2BAF9D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516934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7CDFB77E-A09E-BDE9-B164-A894EB837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22893"/>
          <a:stretch>
            <a:fillRect/>
          </a:stretch>
        </p:blipFill>
        <p:spPr>
          <a:xfrm>
            <a:off x="7997572" y="0"/>
            <a:ext cx="1578228" cy="1574836"/>
          </a:xfrm>
          <a:custGeom>
            <a:avLst/>
            <a:gdLst>
              <a:gd name="connsiteX0" fmla="*/ 0 w 1578228"/>
              <a:gd name="connsiteY0" fmla="*/ 0 h 1574836"/>
              <a:gd name="connsiteX1" fmla="*/ 1578228 w 1578228"/>
              <a:gd name="connsiteY1" fmla="*/ 0 h 1574836"/>
              <a:gd name="connsiteX2" fmla="*/ 1578228 w 1578228"/>
              <a:gd name="connsiteY2" fmla="*/ 1574836 h 1574836"/>
              <a:gd name="connsiteX3" fmla="*/ 0 w 1578228"/>
              <a:gd name="connsiteY3" fmla="*/ 1574836 h 157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228" h="1574836">
                <a:moveTo>
                  <a:pt x="0" y="0"/>
                </a:moveTo>
                <a:lnTo>
                  <a:pt x="1578228" y="0"/>
                </a:lnTo>
                <a:lnTo>
                  <a:pt x="1578228" y="1574836"/>
                </a:lnTo>
                <a:lnTo>
                  <a:pt x="0" y="1574836"/>
                </a:lnTo>
                <a:close/>
              </a:path>
            </a:pathLst>
          </a:custGeom>
        </p:spPr>
      </p:pic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11F2F281-CD61-3144-F723-3FD157516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14020" y="0"/>
            <a:ext cx="1574799" cy="4616449"/>
          </a:xfrm>
          <a:custGeom>
            <a:avLst/>
            <a:gdLst>
              <a:gd name="connsiteX0" fmla="*/ 776817 w 1574799"/>
              <a:gd name="connsiteY0" fmla="*/ 0 h 4616449"/>
              <a:gd name="connsiteX1" fmla="*/ 797982 w 1574799"/>
              <a:gd name="connsiteY1" fmla="*/ 0 h 4616449"/>
              <a:gd name="connsiteX2" fmla="*/ 1574799 w 1574799"/>
              <a:gd name="connsiteY2" fmla="*/ 776817 h 4616449"/>
              <a:gd name="connsiteX3" fmla="*/ 1574799 w 1574799"/>
              <a:gd name="connsiteY3" fmla="*/ 3839632 h 4616449"/>
              <a:gd name="connsiteX4" fmla="*/ 797982 w 1574799"/>
              <a:gd name="connsiteY4" fmla="*/ 4616449 h 4616449"/>
              <a:gd name="connsiteX5" fmla="*/ 776817 w 1574799"/>
              <a:gd name="connsiteY5" fmla="*/ 4616449 h 4616449"/>
              <a:gd name="connsiteX6" fmla="*/ 0 w 1574799"/>
              <a:gd name="connsiteY6" fmla="*/ 3839632 h 4616449"/>
              <a:gd name="connsiteX7" fmla="*/ 0 w 1574799"/>
              <a:gd name="connsiteY7" fmla="*/ 776817 h 4616449"/>
              <a:gd name="connsiteX8" fmla="*/ 776817 w 1574799"/>
              <a:gd name="connsiteY8" fmla="*/ 0 h 461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799" h="4616449">
                <a:moveTo>
                  <a:pt x="776817" y="0"/>
                </a:moveTo>
                <a:lnTo>
                  <a:pt x="797982" y="0"/>
                </a:lnTo>
                <a:cubicBezTo>
                  <a:pt x="1227006" y="0"/>
                  <a:pt x="1574799" y="347793"/>
                  <a:pt x="1574799" y="776817"/>
                </a:cubicBezTo>
                <a:lnTo>
                  <a:pt x="1574799" y="3839632"/>
                </a:lnTo>
                <a:cubicBezTo>
                  <a:pt x="1574799" y="4268656"/>
                  <a:pt x="1227006" y="4616449"/>
                  <a:pt x="797982" y="4616449"/>
                </a:cubicBezTo>
                <a:lnTo>
                  <a:pt x="776817" y="4616449"/>
                </a:lnTo>
                <a:cubicBezTo>
                  <a:pt x="347793" y="4616449"/>
                  <a:pt x="0" y="4268656"/>
                  <a:pt x="0" y="3839632"/>
                </a:cubicBezTo>
                <a:lnTo>
                  <a:pt x="0" y="776817"/>
                </a:lnTo>
                <a:cubicBezTo>
                  <a:pt x="0" y="347793"/>
                  <a:pt x="347793" y="0"/>
                  <a:pt x="776817" y="0"/>
                </a:cubicBez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3590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5589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A3FDF07-2EE4-1BD3-7BBF-76F0E37FCF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594B7A1-4047-AFA3-498E-DD5DFA54DCB6}"/>
              </a:ext>
            </a:extLst>
          </p:cNvPr>
          <p:cNvSpPr/>
          <p:nvPr userDrawn="1"/>
        </p:nvSpPr>
        <p:spPr>
          <a:xfrm flipH="1">
            <a:off x="6258210" y="-1"/>
            <a:ext cx="5943600" cy="3791372"/>
          </a:xfrm>
          <a:custGeom>
            <a:avLst/>
            <a:gdLst>
              <a:gd name="connsiteX0" fmla="*/ 4047914 w 5943600"/>
              <a:gd name="connsiteY0" fmla="*/ 0 h 3791372"/>
              <a:gd name="connsiteX1" fmla="*/ 0 w 5943600"/>
              <a:gd name="connsiteY1" fmla="*/ 0 h 3791372"/>
              <a:gd name="connsiteX2" fmla="*/ 0 w 5943600"/>
              <a:gd name="connsiteY2" fmla="*/ 3791371 h 3791372"/>
              <a:gd name="connsiteX3" fmla="*/ 4047913 w 5943600"/>
              <a:gd name="connsiteY3" fmla="*/ 3791372 h 3791372"/>
              <a:gd name="connsiteX4" fmla="*/ 5943599 w 5943600"/>
              <a:gd name="connsiteY4" fmla="*/ 1895686 h 3791372"/>
              <a:gd name="connsiteX5" fmla="*/ 5943600 w 5943600"/>
              <a:gd name="connsiteY5" fmla="*/ 1895686 h 3791372"/>
              <a:gd name="connsiteX6" fmla="*/ 4047914 w 5943600"/>
              <a:gd name="connsiteY6" fmla="*/ 0 h 379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3600" h="3791372">
                <a:moveTo>
                  <a:pt x="4047914" y="0"/>
                </a:moveTo>
                <a:lnTo>
                  <a:pt x="0" y="0"/>
                </a:lnTo>
                <a:lnTo>
                  <a:pt x="0" y="3791371"/>
                </a:lnTo>
                <a:lnTo>
                  <a:pt x="4047913" y="3791372"/>
                </a:lnTo>
                <a:cubicBezTo>
                  <a:pt x="5094871" y="3791372"/>
                  <a:pt x="5943599" y="2942644"/>
                  <a:pt x="5943599" y="1895686"/>
                </a:cubicBezTo>
                <a:lnTo>
                  <a:pt x="5943600" y="1895686"/>
                </a:lnTo>
                <a:cubicBezTo>
                  <a:pt x="5943600" y="848728"/>
                  <a:pt x="5094872" y="0"/>
                  <a:pt x="4047914" y="0"/>
                </a:cubicBez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DEFC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98071B0-0BAC-CCBF-C8F1-4A3F454908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2788" y="3098800"/>
            <a:ext cx="8979180" cy="376587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1C40449-60F0-140A-3AD1-82ADF3046D4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7DE9C2D-C400-713C-8A35-AA4AC7DED97F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860022E3-44E7-94B3-673D-7A83DC626D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70087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700D2F-0738-919B-C35D-CB0DEA2A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39889"/>
            <a:ext cx="484993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3A1FE95-0855-D501-FF26-012CD590C2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454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D8CDC11-4E82-CC71-FA89-59B33D5F4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93453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9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964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2DA74-18F7-19C5-53FC-AD93FC6B5807}"/>
              </a:ext>
            </a:extLst>
          </p:cNvPr>
          <p:cNvSpPr/>
          <p:nvPr userDrawn="1"/>
        </p:nvSpPr>
        <p:spPr>
          <a:xfrm>
            <a:off x="648119" y="2375037"/>
            <a:ext cx="1730943" cy="3819542"/>
          </a:xfrm>
          <a:prstGeom prst="roundRect">
            <a:avLst>
              <a:gd name="adj" fmla="val 49328"/>
            </a:avLst>
          </a:pr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F08590D-7AB4-C9BE-B902-DC26BCDC65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00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B62F432-FEE6-8978-5F40-FEC041C6C4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8119" y="622721"/>
            <a:ext cx="1728216" cy="17282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9020F3-8CAD-064C-515D-02A876808C1B}"/>
              </a:ext>
            </a:extLst>
          </p:cNvPr>
          <p:cNvSpPr/>
          <p:nvPr userDrawn="1"/>
        </p:nvSpPr>
        <p:spPr>
          <a:xfrm>
            <a:off x="2379546" y="623569"/>
            <a:ext cx="1730943" cy="3819542"/>
          </a:xfrm>
          <a:prstGeom prst="roundRect">
            <a:avLst>
              <a:gd name="adj" fmla="val 49328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83114-165C-1322-953A-6186533660A7}"/>
              </a:ext>
            </a:extLst>
          </p:cNvPr>
          <p:cNvSpPr>
            <a:spLocks/>
          </p:cNvSpPr>
          <p:nvPr userDrawn="1"/>
        </p:nvSpPr>
        <p:spPr>
          <a:xfrm>
            <a:off x="648119" y="4478373"/>
            <a:ext cx="1728216" cy="1728216"/>
          </a:xfrm>
          <a:prstGeom prst="ellipse">
            <a:avLst/>
          </a:pr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DF14F0E-00FB-45E7-BA8A-D52C93844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84626" y="4456529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1BE6C84-E2C6-DDB5-A020-1D90363B24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4599" y="4556224"/>
            <a:ext cx="5247793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87CCCF8-1C79-7D58-EE48-AF6A9196C7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599" y="2304759"/>
            <a:ext cx="524779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BFB29-7615-D0CB-3A29-CF41540B999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30B9294-49C2-9A41-4093-3BF610123F6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5E08318-F3D9-A07C-F68B-384AFC77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69518" y="623569"/>
            <a:ext cx="2933699" cy="1431514"/>
          </a:xfrm>
          <a:custGeom>
            <a:avLst/>
            <a:gdLst>
              <a:gd name="connsiteX0" fmla="*/ 715757 w 2933699"/>
              <a:gd name="connsiteY0" fmla="*/ 0 h 1431514"/>
              <a:gd name="connsiteX1" fmla="*/ 2217942 w 2933699"/>
              <a:gd name="connsiteY1" fmla="*/ 0 h 1431514"/>
              <a:gd name="connsiteX2" fmla="*/ 2933699 w 2933699"/>
              <a:gd name="connsiteY2" fmla="*/ 715757 h 1431514"/>
              <a:gd name="connsiteX3" fmla="*/ 2217942 w 2933699"/>
              <a:gd name="connsiteY3" fmla="*/ 1431514 h 1431514"/>
              <a:gd name="connsiteX4" fmla="*/ 715757 w 2933699"/>
              <a:gd name="connsiteY4" fmla="*/ 1431514 h 1431514"/>
              <a:gd name="connsiteX5" fmla="*/ 0 w 2933699"/>
              <a:gd name="connsiteY5" fmla="*/ 715757 h 1431514"/>
              <a:gd name="connsiteX6" fmla="*/ 715757 w 2933699"/>
              <a:gd name="connsiteY6" fmla="*/ 0 h 143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3699" h="1431514">
                <a:moveTo>
                  <a:pt x="715757" y="0"/>
                </a:moveTo>
                <a:lnTo>
                  <a:pt x="2217942" y="0"/>
                </a:lnTo>
                <a:cubicBezTo>
                  <a:pt x="2613244" y="0"/>
                  <a:pt x="2933699" y="320455"/>
                  <a:pt x="2933699" y="715757"/>
                </a:cubicBezTo>
                <a:cubicBezTo>
                  <a:pt x="2933699" y="1111059"/>
                  <a:pt x="2613244" y="1431514"/>
                  <a:pt x="2217942" y="1431514"/>
                </a:cubicBezTo>
                <a:lnTo>
                  <a:pt x="715757" y="1431514"/>
                </a:lnTo>
                <a:cubicBezTo>
                  <a:pt x="320456" y="1431514"/>
                  <a:pt x="0" y="1111059"/>
                  <a:pt x="0" y="715757"/>
                </a:cubicBezTo>
                <a:cubicBezTo>
                  <a:pt x="0" y="320455"/>
                  <a:pt x="320456" y="0"/>
                  <a:pt x="715757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4211D75-A79E-56DC-E881-52C0CC0275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98" y="5753948"/>
            <a:ext cx="5247793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CF48BE1-E766-5FA2-D411-8460923A9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0117" y="2770343"/>
            <a:ext cx="1684470" cy="168447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E6FE9EC-397D-B942-0236-819BCED10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0117" y="623569"/>
            <a:ext cx="1757680" cy="227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5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6-10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43B117B-9DAD-CC97-C2A8-66F44CA68F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742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3B117B-9DAD-CC97-C2A8-66F44CA68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 r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</a:p>
          <a:p>
            <a:pPr lvl="0"/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3F902-AAD1-8100-DE89-9A4C865E166B}"/>
              </a:ext>
            </a:extLst>
          </p:cNvPr>
          <p:cNvSpPr/>
          <p:nvPr userDrawn="1"/>
        </p:nvSpPr>
        <p:spPr>
          <a:xfrm rot="2700000">
            <a:off x="9798166" y="-906004"/>
            <a:ext cx="1193902" cy="4301542"/>
          </a:xfrm>
          <a:custGeom>
            <a:avLst/>
            <a:gdLst>
              <a:gd name="connsiteX0" fmla="*/ 0 w 1193902"/>
              <a:gd name="connsiteY0" fmla="*/ 987355 h 4301542"/>
              <a:gd name="connsiteX1" fmla="*/ 987355 w 1193902"/>
              <a:gd name="connsiteY1" fmla="*/ 0 h 4301542"/>
              <a:gd name="connsiteX2" fmla="*/ 1193902 w 1193902"/>
              <a:gd name="connsiteY2" fmla="*/ 206546 h 4301542"/>
              <a:gd name="connsiteX3" fmla="*/ 1193901 w 1193902"/>
              <a:gd name="connsiteY3" fmla="*/ 3704591 h 4301542"/>
              <a:gd name="connsiteX4" fmla="*/ 596950 w 1193902"/>
              <a:gd name="connsiteY4" fmla="*/ 4301542 h 4301542"/>
              <a:gd name="connsiteX5" fmla="*/ 596951 w 1193902"/>
              <a:gd name="connsiteY5" fmla="*/ 4301541 h 4301542"/>
              <a:gd name="connsiteX6" fmla="*/ 0 w 1193902"/>
              <a:gd name="connsiteY6" fmla="*/ 370459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  <a:gd name="connsiteX7" fmla="*/ 1078795 w 1193902"/>
              <a:gd name="connsiteY7" fmla="*/ 9144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3902" h="4301542">
                <a:moveTo>
                  <a:pt x="987355" y="0"/>
                </a:moveTo>
                <a:lnTo>
                  <a:pt x="1193902" y="206546"/>
                </a:lnTo>
                <a:cubicBezTo>
                  <a:pt x="1193902" y="1372561"/>
                  <a:pt x="1193901" y="2538576"/>
                  <a:pt x="1193901" y="3704591"/>
                </a:cubicBezTo>
                <a:cubicBezTo>
                  <a:pt x="1193901" y="4034278"/>
                  <a:pt x="926637" y="4301542"/>
                  <a:pt x="596950" y="4301542"/>
                </a:cubicBezTo>
                <a:lnTo>
                  <a:pt x="596951" y="4301541"/>
                </a:lnTo>
                <a:cubicBezTo>
                  <a:pt x="267264" y="4301541"/>
                  <a:pt x="0" y="4034277"/>
                  <a:pt x="0" y="3704590"/>
                </a:cubicBezTo>
                <a:lnTo>
                  <a:pt x="0" y="987355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2DBB2-A181-4E29-6CCA-A8F30AC33C44}"/>
              </a:ext>
            </a:extLst>
          </p:cNvPr>
          <p:cNvSpPr/>
          <p:nvPr userDrawn="1"/>
        </p:nvSpPr>
        <p:spPr>
          <a:xfrm rot="2700000">
            <a:off x="11019741" y="1955164"/>
            <a:ext cx="825711" cy="2790751"/>
          </a:xfrm>
          <a:custGeom>
            <a:avLst/>
            <a:gdLst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6" fmla="*/ 91440 w 825711"/>
              <a:gd name="connsiteY6" fmla="*/ 91440 h 2882191"/>
              <a:gd name="connsiteX0" fmla="*/ 825711 w 825711"/>
              <a:gd name="connsiteY0" fmla="*/ 734271 h 2790751"/>
              <a:gd name="connsiteX1" fmla="*/ 825711 w 825711"/>
              <a:gd name="connsiteY1" fmla="*/ 2377895 h 2790751"/>
              <a:gd name="connsiteX2" fmla="*/ 412855 w 825711"/>
              <a:gd name="connsiteY2" fmla="*/ 2790751 h 2790751"/>
              <a:gd name="connsiteX3" fmla="*/ 412856 w 825711"/>
              <a:gd name="connsiteY3" fmla="*/ 2790750 h 2790751"/>
              <a:gd name="connsiteX4" fmla="*/ 0 w 825711"/>
              <a:gd name="connsiteY4" fmla="*/ 2377894 h 2790751"/>
              <a:gd name="connsiteX5" fmla="*/ 91440 w 825711"/>
              <a:gd name="connsiteY5" fmla="*/ 0 h 2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2790751">
                <a:moveTo>
                  <a:pt x="825711" y="734271"/>
                </a:moveTo>
                <a:lnTo>
                  <a:pt x="825711" y="2377895"/>
                </a:lnTo>
                <a:cubicBezTo>
                  <a:pt x="825711" y="2605909"/>
                  <a:pt x="640869" y="2790751"/>
                  <a:pt x="412855" y="2790751"/>
                </a:cubicBezTo>
                <a:lnTo>
                  <a:pt x="412856" y="2790750"/>
                </a:lnTo>
                <a:cubicBezTo>
                  <a:pt x="184842" y="2790750"/>
                  <a:pt x="0" y="2605908"/>
                  <a:pt x="0" y="2377894"/>
                </a:cubicBezTo>
                <a:cubicBezTo>
                  <a:pt x="0" y="1554783"/>
                  <a:pt x="91440" y="0"/>
                  <a:pt x="91440" y="0"/>
                </a:cubicBez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C722F8-9A5C-19E5-0242-1E41CA5B41E8}"/>
              </a:ext>
            </a:extLst>
          </p:cNvPr>
          <p:cNvSpPr/>
          <p:nvPr userDrawn="1"/>
        </p:nvSpPr>
        <p:spPr>
          <a:xfrm rot="2700000">
            <a:off x="10059962" y="-488825"/>
            <a:ext cx="1032256" cy="5442037"/>
          </a:xfrm>
          <a:custGeom>
            <a:avLst/>
            <a:gdLst>
              <a:gd name="connsiteX0" fmla="*/ 0 w 1032256"/>
              <a:gd name="connsiteY0" fmla="*/ 80350 h 5442037"/>
              <a:gd name="connsiteX1" fmla="*/ 80350 w 1032256"/>
              <a:gd name="connsiteY1" fmla="*/ 0 h 5442037"/>
              <a:gd name="connsiteX2" fmla="*/ 1032256 w 1032256"/>
              <a:gd name="connsiteY2" fmla="*/ 951906 h 5442037"/>
              <a:gd name="connsiteX3" fmla="*/ 1032255 w 1032256"/>
              <a:gd name="connsiteY3" fmla="*/ 4925909 h 5442037"/>
              <a:gd name="connsiteX4" fmla="*/ 516127 w 1032256"/>
              <a:gd name="connsiteY4" fmla="*/ 5442037 h 5442037"/>
              <a:gd name="connsiteX5" fmla="*/ 516128 w 1032256"/>
              <a:gd name="connsiteY5" fmla="*/ 5442036 h 5442037"/>
              <a:gd name="connsiteX6" fmla="*/ 0 w 1032256"/>
              <a:gd name="connsiteY6" fmla="*/ 4925908 h 544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256" h="5442037">
                <a:moveTo>
                  <a:pt x="0" y="80350"/>
                </a:moveTo>
                <a:lnTo>
                  <a:pt x="80350" y="0"/>
                </a:lnTo>
                <a:lnTo>
                  <a:pt x="1032256" y="951906"/>
                </a:lnTo>
                <a:lnTo>
                  <a:pt x="1032255" y="4925909"/>
                </a:lnTo>
                <a:cubicBezTo>
                  <a:pt x="1032255" y="5210959"/>
                  <a:pt x="801177" y="5442037"/>
                  <a:pt x="516127" y="5442037"/>
                </a:cubicBezTo>
                <a:lnTo>
                  <a:pt x="516128" y="5442036"/>
                </a:lnTo>
                <a:cubicBezTo>
                  <a:pt x="231078" y="5442036"/>
                  <a:pt x="0" y="5210958"/>
                  <a:pt x="0" y="49259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1D5A5C-10B5-236E-C5A3-320C49CAC101}"/>
              </a:ext>
            </a:extLst>
          </p:cNvPr>
          <p:cNvSpPr/>
          <p:nvPr userDrawn="1"/>
        </p:nvSpPr>
        <p:spPr>
          <a:xfrm rot="2700000">
            <a:off x="10155384" y="-743160"/>
            <a:ext cx="619166" cy="4750557"/>
          </a:xfrm>
          <a:custGeom>
            <a:avLst/>
            <a:gdLst>
              <a:gd name="connsiteX0" fmla="*/ 0 w 619166"/>
              <a:gd name="connsiteY0" fmla="*/ 376697 h 4750557"/>
              <a:gd name="connsiteX1" fmla="*/ 376697 w 619166"/>
              <a:gd name="connsiteY1" fmla="*/ 0 h 4750557"/>
              <a:gd name="connsiteX2" fmla="*/ 619166 w 619166"/>
              <a:gd name="connsiteY2" fmla="*/ 242469 h 4750557"/>
              <a:gd name="connsiteX3" fmla="*/ 619165 w 619166"/>
              <a:gd name="connsiteY3" fmla="*/ 4440974 h 4750557"/>
              <a:gd name="connsiteX4" fmla="*/ 309582 w 619166"/>
              <a:gd name="connsiteY4" fmla="*/ 4750557 h 4750557"/>
              <a:gd name="connsiteX5" fmla="*/ 309583 w 619166"/>
              <a:gd name="connsiteY5" fmla="*/ 4750556 h 4750557"/>
              <a:gd name="connsiteX6" fmla="*/ 0 w 619166"/>
              <a:gd name="connsiteY6" fmla="*/ 4440973 h 475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166" h="4750557">
                <a:moveTo>
                  <a:pt x="0" y="376697"/>
                </a:moveTo>
                <a:lnTo>
                  <a:pt x="376697" y="0"/>
                </a:lnTo>
                <a:lnTo>
                  <a:pt x="619166" y="242469"/>
                </a:lnTo>
                <a:lnTo>
                  <a:pt x="619165" y="4440974"/>
                </a:lnTo>
                <a:cubicBezTo>
                  <a:pt x="619165" y="4611952"/>
                  <a:pt x="480560" y="4750557"/>
                  <a:pt x="309582" y="4750557"/>
                </a:cubicBezTo>
                <a:lnTo>
                  <a:pt x="309583" y="4750556"/>
                </a:lnTo>
                <a:cubicBezTo>
                  <a:pt x="138605" y="4750556"/>
                  <a:pt x="0" y="4611951"/>
                  <a:pt x="0" y="4440973"/>
                </a:cubicBezTo>
                <a:close/>
              </a:path>
            </a:pathLst>
          </a:custGeom>
          <a:solidFill>
            <a:srgbClr val="0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80E180-0B33-1124-60B3-4CE23784FB15}"/>
              </a:ext>
            </a:extLst>
          </p:cNvPr>
          <p:cNvSpPr/>
          <p:nvPr userDrawn="1"/>
        </p:nvSpPr>
        <p:spPr>
          <a:xfrm rot="2700000">
            <a:off x="10829819" y="1073856"/>
            <a:ext cx="825711" cy="3510810"/>
          </a:xfrm>
          <a:custGeom>
            <a:avLst/>
            <a:gdLst>
              <a:gd name="connsiteX0" fmla="*/ 0 w 825711"/>
              <a:gd name="connsiteY0" fmla="*/ 0 h 3510810"/>
              <a:gd name="connsiteX1" fmla="*/ 825711 w 825711"/>
              <a:gd name="connsiteY1" fmla="*/ 825711 h 3510810"/>
              <a:gd name="connsiteX2" fmla="*/ 825711 w 825711"/>
              <a:gd name="connsiteY2" fmla="*/ 3097954 h 3510810"/>
              <a:gd name="connsiteX3" fmla="*/ 412855 w 825711"/>
              <a:gd name="connsiteY3" fmla="*/ 3510810 h 3510810"/>
              <a:gd name="connsiteX4" fmla="*/ 412856 w 825711"/>
              <a:gd name="connsiteY4" fmla="*/ 3510809 h 3510810"/>
              <a:gd name="connsiteX5" fmla="*/ 0 w 825711"/>
              <a:gd name="connsiteY5" fmla="*/ 3097953 h 35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3510810">
                <a:moveTo>
                  <a:pt x="0" y="0"/>
                </a:moveTo>
                <a:lnTo>
                  <a:pt x="825711" y="825711"/>
                </a:lnTo>
                <a:lnTo>
                  <a:pt x="825711" y="3097954"/>
                </a:lnTo>
                <a:cubicBezTo>
                  <a:pt x="825711" y="3325968"/>
                  <a:pt x="640869" y="3510810"/>
                  <a:pt x="412855" y="3510810"/>
                </a:cubicBezTo>
                <a:lnTo>
                  <a:pt x="412856" y="3510809"/>
                </a:lnTo>
                <a:cubicBezTo>
                  <a:pt x="184842" y="3510809"/>
                  <a:pt x="0" y="3325967"/>
                  <a:pt x="0" y="30979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256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5A8A15E-1053-38DD-AC1D-5EA46364C0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6205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A8A15E-1053-38DD-AC1D-5EA46364C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556B5BD-D0BB-AFCA-634D-8774ECD5E0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862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56B5BD-D0BB-AFCA-634D-8774ECD5E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27927AA-6E3C-3281-2AB0-473A1A133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8476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7927AA-6E3C-3281-2AB0-473A1A133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082396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9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B8F84D9-5BB2-7598-FDD4-DE7D2E900F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698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8F84D9-5BB2-7598-FDD4-DE7D2E900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tx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FA0FCE1-040D-C5C9-0D6C-D0BC2BC5EE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1653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A0FCE1-040D-C5C9-0D6C-D0BC2BC5E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702626"/>
            <a:ext cx="5532119" cy="458114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702626"/>
            <a:ext cx="5532119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6F0D803-AE05-DFA0-7C50-E5A7C3AE89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5909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F0D803-AE05-DFA0-7C50-E5A7C3AE89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286358"/>
            <a:ext cx="5532119" cy="49941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286358"/>
            <a:ext cx="5532119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EBE655-8CD4-3111-DF6A-4F3DB7213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5945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EBE655-8CD4-3111-DF6A-4F3DB7213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84694" y="1702626"/>
            <a:ext cx="3621024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02230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43462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5F4ACCC-7F14-F438-ACE2-3F9BADE4A0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656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F4ACCC-7F14-F438-ACE2-3F9BADE4A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7F36D22-2A16-B58B-E2E7-CC2E4CF2DC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23341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F36D22-2A16-B58B-E2E7-CC2E4CF2D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7691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108673-A841-F2DC-4C63-9BA3E20F45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2561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24087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264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18EDB9-5623-FD23-8C0E-AA29EDA7A3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149A18-341D-DEE9-36AF-B20C2CF51C8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3F2401-B526-950D-C991-D2062E340C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58642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452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E2E184-492C-929D-E003-357173179E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A0240A-CFE6-FB00-2FDA-AC356B39775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371348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500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676643F5-726A-FFCD-2BFA-CC1A4CD33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C4D14-3967-FD0C-1A14-023CEB22AD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00200" y="1777999"/>
            <a:ext cx="8991600" cy="3276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 anchorCtr="0"/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7B9D2A-679A-E70D-9144-8C0F54653E8F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A2640E-0E16-4C21-EE61-8EF930D666F6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C0CB3D-38B0-E87C-E0DC-B9F5A8316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5001A2C-6752-AFA7-B7BC-2319DAFA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990C55-0A66-82D8-F468-B3E71C880C41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3AEF32A3-382C-B1AC-3AC7-C4D38D4B755A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8B7075-DFA4-FD08-29B2-A2110BC23927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26C4374-BB8B-CA6D-9A4C-E3F74A433249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504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3079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17C5FF-0BB6-D8D6-AE85-A08D4A90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86127"/>
            <a:ext cx="2957208" cy="5885746"/>
          </a:xfrm>
          <a:custGeom>
            <a:avLst/>
            <a:gdLst>
              <a:gd name="connsiteX0" fmla="*/ 0 w 2957208"/>
              <a:gd name="connsiteY0" fmla="*/ 0 h 5885746"/>
              <a:gd name="connsiteX1" fmla="*/ 14335 w 2957208"/>
              <a:gd name="connsiteY1" fmla="*/ 0 h 5885746"/>
              <a:gd name="connsiteX2" fmla="*/ 2957208 w 2957208"/>
              <a:gd name="connsiteY2" fmla="*/ 2942873 h 5885746"/>
              <a:gd name="connsiteX3" fmla="*/ 2957207 w 2957208"/>
              <a:gd name="connsiteY3" fmla="*/ 2942873 h 5885746"/>
              <a:gd name="connsiteX4" fmla="*/ 14334 w 2957208"/>
              <a:gd name="connsiteY4" fmla="*/ 5885746 h 5885746"/>
              <a:gd name="connsiteX5" fmla="*/ 0 w 2957208"/>
              <a:gd name="connsiteY5" fmla="*/ 5885746 h 5885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7208" h="5885746">
                <a:moveTo>
                  <a:pt x="0" y="0"/>
                </a:moveTo>
                <a:lnTo>
                  <a:pt x="14335" y="0"/>
                </a:lnTo>
                <a:cubicBezTo>
                  <a:pt x="1639639" y="0"/>
                  <a:pt x="2957208" y="1317569"/>
                  <a:pt x="2957208" y="2942873"/>
                </a:cubicBezTo>
                <a:lnTo>
                  <a:pt x="2957207" y="2942873"/>
                </a:lnTo>
                <a:cubicBezTo>
                  <a:pt x="2957207" y="4568177"/>
                  <a:pt x="1639638" y="5885746"/>
                  <a:pt x="14334" y="5885746"/>
                </a:cubicBezTo>
                <a:lnTo>
                  <a:pt x="0" y="588574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B998AD-8D30-E11E-F31A-9DB440E709B9}"/>
              </a:ext>
            </a:extLst>
          </p:cNvPr>
          <p:cNvSpPr/>
          <p:nvPr userDrawn="1"/>
        </p:nvSpPr>
        <p:spPr>
          <a:xfrm>
            <a:off x="10285918" y="1515906"/>
            <a:ext cx="1906082" cy="3826188"/>
          </a:xfrm>
          <a:custGeom>
            <a:avLst/>
            <a:gdLst>
              <a:gd name="connsiteX0" fmla="*/ 1906082 w 1906082"/>
              <a:gd name="connsiteY0" fmla="*/ 0 h 3826188"/>
              <a:gd name="connsiteX1" fmla="*/ 1906082 w 1906082"/>
              <a:gd name="connsiteY1" fmla="*/ 3826188 h 3826188"/>
              <a:gd name="connsiteX2" fmla="*/ 1717826 w 1906082"/>
              <a:gd name="connsiteY2" fmla="*/ 3816682 h 3826188"/>
              <a:gd name="connsiteX3" fmla="*/ 0 w 1906082"/>
              <a:gd name="connsiteY3" fmla="*/ 1913094 h 3826188"/>
              <a:gd name="connsiteX4" fmla="*/ 1717826 w 1906082"/>
              <a:gd name="connsiteY4" fmla="*/ 9506 h 382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082" h="3826188">
                <a:moveTo>
                  <a:pt x="1906082" y="0"/>
                </a:moveTo>
                <a:lnTo>
                  <a:pt x="1906082" y="3826188"/>
                </a:lnTo>
                <a:lnTo>
                  <a:pt x="1717826" y="3816682"/>
                </a:lnTo>
                <a:cubicBezTo>
                  <a:pt x="752949" y="3718694"/>
                  <a:pt x="0" y="2903825"/>
                  <a:pt x="0" y="1913094"/>
                </a:cubicBezTo>
                <a:cubicBezTo>
                  <a:pt x="0" y="922364"/>
                  <a:pt x="752949" y="107495"/>
                  <a:pt x="1717826" y="9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31" name="Subtitle 2">
            <a:extLst>
              <a:ext uri="{FF2B5EF4-FFF2-40B4-BE49-F238E27FC236}">
                <a16:creationId xmlns:a16="http://schemas.microsoft.com/office/drawing/2014/main" id="{584AC4A0-A7FD-554D-C5E0-580CC43AD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67100" y="22574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467100" y="28448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40717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4994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340A53-0350-F53E-7D51-923BC4C86D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01581" y="0"/>
            <a:ext cx="4890421" cy="4391066"/>
          </a:xfrm>
          <a:custGeom>
            <a:avLst/>
            <a:gdLst>
              <a:gd name="connsiteX0" fmla="*/ 1083662 w 4890421"/>
              <a:gd name="connsiteY0" fmla="*/ 0 h 4391066"/>
              <a:gd name="connsiteX1" fmla="*/ 4890421 w 4890421"/>
              <a:gd name="connsiteY1" fmla="*/ 0 h 4391066"/>
              <a:gd name="connsiteX2" fmla="*/ 4890421 w 4890421"/>
              <a:gd name="connsiteY2" fmla="*/ 2808049 h 4391066"/>
              <a:gd name="connsiteX3" fmla="*/ 3992391 w 4890421"/>
              <a:gd name="connsiteY3" fmla="*/ 3706080 h 4391066"/>
              <a:gd name="connsiteX4" fmla="*/ 684986 w 4890421"/>
              <a:gd name="connsiteY4" fmla="*/ 3706080 h 4391066"/>
              <a:gd name="connsiteX5" fmla="*/ 684986 w 4890421"/>
              <a:gd name="connsiteY5" fmla="*/ 398676 h 439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90421" h="4391066">
                <a:moveTo>
                  <a:pt x="1083662" y="0"/>
                </a:moveTo>
                <a:lnTo>
                  <a:pt x="4890421" y="0"/>
                </a:lnTo>
                <a:lnTo>
                  <a:pt x="4890421" y="2808049"/>
                </a:lnTo>
                <a:lnTo>
                  <a:pt x="3992391" y="3706080"/>
                </a:lnTo>
                <a:cubicBezTo>
                  <a:pt x="3079076" y="4619395"/>
                  <a:pt x="1598301" y="4619395"/>
                  <a:pt x="684986" y="3706080"/>
                </a:cubicBezTo>
                <a:cubicBezTo>
                  <a:pt x="-228328" y="2792765"/>
                  <a:pt x="-228328" y="1311990"/>
                  <a:pt x="684986" y="398676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159B2-9CF1-9E05-5FA7-5B81E7F195E7}"/>
              </a:ext>
            </a:extLst>
          </p:cNvPr>
          <p:cNvSpPr/>
          <p:nvPr userDrawn="1"/>
        </p:nvSpPr>
        <p:spPr>
          <a:xfrm>
            <a:off x="486075" y="5000653"/>
            <a:ext cx="4077476" cy="1857348"/>
          </a:xfrm>
          <a:custGeom>
            <a:avLst/>
            <a:gdLst>
              <a:gd name="connsiteX0" fmla="*/ 2507608 w 4077476"/>
              <a:gd name="connsiteY0" fmla="*/ 0 h 1857348"/>
              <a:gd name="connsiteX1" fmla="*/ 3617672 w 4077476"/>
              <a:gd name="connsiteY1" fmla="*/ 459804 h 1857348"/>
              <a:gd name="connsiteX2" fmla="*/ 4077476 w 4077476"/>
              <a:gd name="connsiteY2" fmla="*/ 1569868 h 1857348"/>
              <a:gd name="connsiteX3" fmla="*/ 4049922 w 4077476"/>
              <a:gd name="connsiteY3" fmla="*/ 1857348 h 1857348"/>
              <a:gd name="connsiteX4" fmla="*/ 0 w 4077476"/>
              <a:gd name="connsiteY4" fmla="*/ 1857348 h 1857348"/>
              <a:gd name="connsiteX5" fmla="*/ 1397545 w 4077476"/>
              <a:gd name="connsiteY5" fmla="*/ 459804 h 1857348"/>
              <a:gd name="connsiteX6" fmla="*/ 2507608 w 4077476"/>
              <a:gd name="connsiteY6" fmla="*/ 0 h 1857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476" h="1857348">
                <a:moveTo>
                  <a:pt x="2507608" y="0"/>
                </a:moveTo>
                <a:cubicBezTo>
                  <a:pt x="2909372" y="0"/>
                  <a:pt x="3311136" y="153268"/>
                  <a:pt x="3617672" y="459804"/>
                </a:cubicBezTo>
                <a:cubicBezTo>
                  <a:pt x="3924208" y="766340"/>
                  <a:pt x="4077476" y="1168104"/>
                  <a:pt x="4077476" y="1569868"/>
                </a:cubicBezTo>
                <a:lnTo>
                  <a:pt x="4049922" y="1857348"/>
                </a:lnTo>
                <a:lnTo>
                  <a:pt x="0" y="1857348"/>
                </a:lnTo>
                <a:lnTo>
                  <a:pt x="1397545" y="459804"/>
                </a:lnTo>
                <a:cubicBezTo>
                  <a:pt x="1704080" y="153268"/>
                  <a:pt x="2105844" y="0"/>
                  <a:pt x="25076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31F9952-3096-5EB4-195E-E111EF3DA7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8096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279600-C9F1-CF2F-5C8E-97EEA785D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3081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C8615EA-924C-6B9D-68EB-D8BBB5ECB83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410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4152A-0AC2-B35F-B3CA-D6B593C00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300" y="673100"/>
            <a:ext cx="10909300" cy="2463800"/>
          </a:xfrm>
          <a:custGeom>
            <a:avLst/>
            <a:gdLst>
              <a:gd name="connsiteX0" fmla="*/ 1231900 w 10909300"/>
              <a:gd name="connsiteY0" fmla="*/ 0 h 2463800"/>
              <a:gd name="connsiteX1" fmla="*/ 9677400 w 10909300"/>
              <a:gd name="connsiteY1" fmla="*/ 0 h 2463800"/>
              <a:gd name="connsiteX2" fmla="*/ 10909300 w 10909300"/>
              <a:gd name="connsiteY2" fmla="*/ 1231900 h 2463800"/>
              <a:gd name="connsiteX3" fmla="*/ 9677400 w 10909300"/>
              <a:gd name="connsiteY3" fmla="*/ 2463800 h 2463800"/>
              <a:gd name="connsiteX4" fmla="*/ 1231900 w 10909300"/>
              <a:gd name="connsiteY4" fmla="*/ 2463800 h 2463800"/>
              <a:gd name="connsiteX5" fmla="*/ 0 w 10909300"/>
              <a:gd name="connsiteY5" fmla="*/ 1231900 h 2463800"/>
              <a:gd name="connsiteX6" fmla="*/ 1231900 w 10909300"/>
              <a:gd name="connsiteY6" fmla="*/ 0 h 246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300" h="2463800">
                <a:moveTo>
                  <a:pt x="1231900" y="0"/>
                </a:moveTo>
                <a:lnTo>
                  <a:pt x="9677400" y="0"/>
                </a:lnTo>
                <a:cubicBezTo>
                  <a:pt x="10357760" y="0"/>
                  <a:pt x="10909300" y="551540"/>
                  <a:pt x="10909300" y="1231900"/>
                </a:cubicBezTo>
                <a:cubicBezTo>
                  <a:pt x="10909300" y="1912260"/>
                  <a:pt x="10357760" y="2463800"/>
                  <a:pt x="9677400" y="2463800"/>
                </a:cubicBezTo>
                <a:lnTo>
                  <a:pt x="1231900" y="2463800"/>
                </a:lnTo>
                <a:cubicBezTo>
                  <a:pt x="551540" y="2463800"/>
                  <a:pt x="0" y="1912260"/>
                  <a:pt x="0" y="1231900"/>
                </a:cubicBezTo>
                <a:cubicBezTo>
                  <a:pt x="0" y="551540"/>
                  <a:pt x="551540" y="0"/>
                  <a:pt x="1231900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703173" y="3657600"/>
            <a:ext cx="8785654" cy="14465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 dirty="0"/>
              <a:t>Divider title are 44pt Noto </a:t>
            </a:r>
            <a:br>
              <a:rPr lang="en-US" dirty="0"/>
            </a:br>
            <a:r>
              <a:rPr lang="en-US" dirty="0"/>
              <a:t>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64164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686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4657C8-34AC-81B6-5C51-BB17F9686E24}"/>
              </a:ext>
            </a:extLst>
          </p:cNvPr>
          <p:cNvSpPr/>
          <p:nvPr userDrawn="1"/>
        </p:nvSpPr>
        <p:spPr>
          <a:xfrm rot="5400000">
            <a:off x="-17144" y="2760344"/>
            <a:ext cx="4114801" cy="4080511"/>
          </a:xfrm>
          <a:custGeom>
            <a:avLst/>
            <a:gdLst>
              <a:gd name="connsiteX0" fmla="*/ 0 w 4114801"/>
              <a:gd name="connsiteY0" fmla="*/ 4080511 h 4080511"/>
              <a:gd name="connsiteX1" fmla="*/ 0 w 4114801"/>
              <a:gd name="connsiteY1" fmla="*/ 2051686 h 4080511"/>
              <a:gd name="connsiteX2" fmla="*/ 2051686 w 4114801"/>
              <a:gd name="connsiteY2" fmla="*/ 0 h 4080511"/>
              <a:gd name="connsiteX3" fmla="*/ 2063115 w 4114801"/>
              <a:gd name="connsiteY3" fmla="*/ 0 h 4080511"/>
              <a:gd name="connsiteX4" fmla="*/ 4114801 w 4114801"/>
              <a:gd name="connsiteY4" fmla="*/ 2051686 h 4080511"/>
              <a:gd name="connsiteX5" fmla="*/ 4114800 w 4114801"/>
              <a:gd name="connsiteY5" fmla="*/ 4080511 h 40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4801" h="4080511">
                <a:moveTo>
                  <a:pt x="0" y="4080511"/>
                </a:moveTo>
                <a:lnTo>
                  <a:pt x="0" y="2051686"/>
                </a:lnTo>
                <a:cubicBezTo>
                  <a:pt x="0" y="918571"/>
                  <a:pt x="918571" y="0"/>
                  <a:pt x="2051686" y="0"/>
                </a:cubicBezTo>
                <a:lnTo>
                  <a:pt x="2063115" y="0"/>
                </a:lnTo>
                <a:cubicBezTo>
                  <a:pt x="3196230" y="0"/>
                  <a:pt x="4114801" y="918571"/>
                  <a:pt x="4114801" y="2051686"/>
                </a:cubicBezTo>
                <a:lnTo>
                  <a:pt x="4114800" y="4080511"/>
                </a:lnTo>
                <a:close/>
              </a:path>
            </a:pathLst>
          </a:custGeom>
          <a:gradFill flip="none" rotWithShape="1">
            <a:gsLst>
              <a:gs pos="65000">
                <a:srgbClr val="140A42"/>
              </a:gs>
              <a:gs pos="0">
                <a:srgbClr val="00CCFF"/>
              </a:gs>
            </a:gsLst>
            <a:lin ang="8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94BBB78-5FF7-C366-70FD-3AF06FA9E09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5FE5ABEB-7B35-8213-C6F0-6497298925D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948370" y="2594609"/>
            <a:ext cx="4624024" cy="2739391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254D77-8314-1D63-56AD-419C890F53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327139" cy="5552111"/>
          </a:xfrm>
          <a:custGeom>
            <a:avLst/>
            <a:gdLst>
              <a:gd name="connsiteX0" fmla="*/ 0 w 6327139"/>
              <a:gd name="connsiteY0" fmla="*/ 0 h 5552111"/>
              <a:gd name="connsiteX1" fmla="*/ 6327139 w 6327139"/>
              <a:gd name="connsiteY1" fmla="*/ 0 h 5552111"/>
              <a:gd name="connsiteX2" fmla="*/ 6327139 w 6327139"/>
              <a:gd name="connsiteY2" fmla="*/ 2377111 h 5552111"/>
              <a:gd name="connsiteX3" fmla="*/ 3152139 w 6327139"/>
              <a:gd name="connsiteY3" fmla="*/ 5552111 h 5552111"/>
              <a:gd name="connsiteX4" fmla="*/ 13723 w 6327139"/>
              <a:gd name="connsiteY4" fmla="*/ 2860632 h 5552111"/>
              <a:gd name="connsiteX5" fmla="*/ 0 w 6327139"/>
              <a:gd name="connsiteY5" fmla="*/ 2752636 h 555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7139" h="5552111">
                <a:moveTo>
                  <a:pt x="0" y="0"/>
                </a:moveTo>
                <a:lnTo>
                  <a:pt x="6327139" y="0"/>
                </a:lnTo>
                <a:lnTo>
                  <a:pt x="6327139" y="2377111"/>
                </a:lnTo>
                <a:cubicBezTo>
                  <a:pt x="6327139" y="4130615"/>
                  <a:pt x="4905643" y="5552111"/>
                  <a:pt x="3152139" y="5552111"/>
                </a:cubicBezTo>
                <a:cubicBezTo>
                  <a:pt x="1563027" y="5552111"/>
                  <a:pt x="246589" y="4384652"/>
                  <a:pt x="13723" y="2860632"/>
                </a:cubicBezTo>
                <a:lnTo>
                  <a:pt x="0" y="275263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296AAA-9AC5-C0EC-9897-4E4D0D105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743200"/>
            <a:ext cx="4080512" cy="2808911"/>
          </a:xfrm>
          <a:custGeom>
            <a:avLst/>
            <a:gdLst>
              <a:gd name="connsiteX0" fmla="*/ 0 w 4080512"/>
              <a:gd name="connsiteY0" fmla="*/ 0 h 2808911"/>
              <a:gd name="connsiteX1" fmla="*/ 2028826 w 4080512"/>
              <a:gd name="connsiteY1" fmla="*/ 0 h 2808911"/>
              <a:gd name="connsiteX2" fmla="*/ 4080512 w 4080512"/>
              <a:gd name="connsiteY2" fmla="*/ 2051686 h 2808911"/>
              <a:gd name="connsiteX3" fmla="*/ 4080512 w 4080512"/>
              <a:gd name="connsiteY3" fmla="*/ 2063115 h 2808911"/>
              <a:gd name="connsiteX4" fmla="*/ 3988272 w 4080512"/>
              <a:gd name="connsiteY4" fmla="*/ 2673224 h 2808911"/>
              <a:gd name="connsiteX5" fmla="*/ 3978625 w 4080512"/>
              <a:gd name="connsiteY5" fmla="*/ 2699582 h 2808911"/>
              <a:gd name="connsiteX6" fmla="*/ 3945622 w 4080512"/>
              <a:gd name="connsiteY6" fmla="*/ 2708954 h 2808911"/>
              <a:gd name="connsiteX7" fmla="*/ 3152140 w 4080512"/>
              <a:gd name="connsiteY7" fmla="*/ 2808911 h 2808911"/>
              <a:gd name="connsiteX8" fmla="*/ 13723 w 4080512"/>
              <a:gd name="connsiteY8" fmla="*/ 117432 h 2808911"/>
              <a:gd name="connsiteX9" fmla="*/ 0 w 4080512"/>
              <a:gd name="connsiteY9" fmla="*/ 9436 h 2808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80512" h="2808911">
                <a:moveTo>
                  <a:pt x="0" y="0"/>
                </a:moveTo>
                <a:lnTo>
                  <a:pt x="2028826" y="0"/>
                </a:lnTo>
                <a:cubicBezTo>
                  <a:pt x="3161941" y="0"/>
                  <a:pt x="4080513" y="918572"/>
                  <a:pt x="4080512" y="2051686"/>
                </a:cubicBezTo>
                <a:lnTo>
                  <a:pt x="4080512" y="2063115"/>
                </a:lnTo>
                <a:cubicBezTo>
                  <a:pt x="4080512" y="2275574"/>
                  <a:pt x="4048219" y="2480491"/>
                  <a:pt x="3988272" y="2673224"/>
                </a:cubicBezTo>
                <a:lnTo>
                  <a:pt x="3978625" y="2699582"/>
                </a:lnTo>
                <a:lnTo>
                  <a:pt x="3945622" y="2708954"/>
                </a:lnTo>
                <a:cubicBezTo>
                  <a:pt x="3692005" y="2774207"/>
                  <a:pt x="3426125" y="2808911"/>
                  <a:pt x="3152140" y="2808911"/>
                </a:cubicBezTo>
                <a:cubicBezTo>
                  <a:pt x="1563027" y="2808911"/>
                  <a:pt x="246589" y="1641452"/>
                  <a:pt x="13723" y="117432"/>
                </a:cubicBezTo>
                <a:lnTo>
                  <a:pt x="0" y="9436"/>
                </a:lnTo>
                <a:close/>
              </a:path>
            </a:pathLst>
          </a:custGeom>
          <a:solidFill>
            <a:srgbClr val="00CC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0" lvl="0"/>
            <a:r>
              <a:rPr lang="en-US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E3113A-26C0-984B-11CB-789A7AFB2ED7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302882-B07A-5399-657A-08126A085FAA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CC58985-0C3C-097C-1F60-A1A44B3F6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4BF919-0125-F0D1-D738-4F4B0976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3F27F7-BE73-4095-86A6-D508C1A94F63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D15BDCEA-34E9-D41E-A765-98D13F56C2E5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A0D4E4-097B-6261-3752-47CD008405BE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A461E1A-178C-C568-796D-F6D8764F4046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599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57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09296F-DACA-9046-F9F0-2407339F5BBF}"/>
              </a:ext>
            </a:extLst>
          </p:cNvPr>
          <p:cNvSpPr/>
          <p:nvPr userDrawn="1"/>
        </p:nvSpPr>
        <p:spPr>
          <a:xfrm>
            <a:off x="0" y="241300"/>
            <a:ext cx="11861800" cy="6362700"/>
          </a:xfrm>
          <a:custGeom>
            <a:avLst/>
            <a:gdLst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6" fmla="*/ 91440 w 11861800"/>
              <a:gd name="connsiteY6" fmla="*/ 9144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61800" h="6362700">
                <a:moveTo>
                  <a:pt x="0" y="0"/>
                </a:moveTo>
                <a:lnTo>
                  <a:pt x="11042602" y="0"/>
                </a:lnTo>
                <a:cubicBezTo>
                  <a:pt x="11495033" y="0"/>
                  <a:pt x="11861800" y="366767"/>
                  <a:pt x="11861800" y="819198"/>
                </a:cubicBezTo>
                <a:lnTo>
                  <a:pt x="11861800" y="5543502"/>
                </a:lnTo>
                <a:cubicBezTo>
                  <a:pt x="11861800" y="5995933"/>
                  <a:pt x="11495033" y="6362700"/>
                  <a:pt x="11042602" y="6362700"/>
                </a:cubicBezTo>
                <a:lnTo>
                  <a:pt x="0" y="636270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8C8038-FA73-08C5-C7EC-459DEC5181D5}"/>
              </a:ext>
            </a:extLst>
          </p:cNvPr>
          <p:cNvSpPr/>
          <p:nvPr userDrawn="1"/>
        </p:nvSpPr>
        <p:spPr>
          <a:xfrm rot="2700000">
            <a:off x="9238214" y="-735198"/>
            <a:ext cx="2460591" cy="4778211"/>
          </a:xfrm>
          <a:custGeom>
            <a:avLst/>
            <a:gdLst>
              <a:gd name="connsiteX0" fmla="*/ 0 w 2460591"/>
              <a:gd name="connsiteY0" fmla="*/ 1280424 h 4778211"/>
              <a:gd name="connsiteX1" fmla="*/ 1280424 w 2460591"/>
              <a:gd name="connsiteY1" fmla="*/ 0 h 4778211"/>
              <a:gd name="connsiteX2" fmla="*/ 2460591 w 2460591"/>
              <a:gd name="connsiteY2" fmla="*/ 1180167 h 4778211"/>
              <a:gd name="connsiteX3" fmla="*/ 2460591 w 2460591"/>
              <a:gd name="connsiteY3" fmla="*/ 3547915 h 4778211"/>
              <a:gd name="connsiteX4" fmla="*/ 1230295 w 2460591"/>
              <a:gd name="connsiteY4" fmla="*/ 4778211 h 4778211"/>
              <a:gd name="connsiteX5" fmla="*/ 1230296 w 2460591"/>
              <a:gd name="connsiteY5" fmla="*/ 4778210 h 4778211"/>
              <a:gd name="connsiteX6" fmla="*/ 0 w 2460591"/>
              <a:gd name="connsiteY6" fmla="*/ 3547914 h 4778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0591" h="4778211">
                <a:moveTo>
                  <a:pt x="0" y="1280424"/>
                </a:moveTo>
                <a:lnTo>
                  <a:pt x="1280424" y="0"/>
                </a:lnTo>
                <a:lnTo>
                  <a:pt x="2460591" y="1180167"/>
                </a:lnTo>
                <a:lnTo>
                  <a:pt x="2460591" y="3547915"/>
                </a:lnTo>
                <a:cubicBezTo>
                  <a:pt x="2460591" y="4227389"/>
                  <a:pt x="1909769" y="4778211"/>
                  <a:pt x="1230295" y="4778211"/>
                </a:cubicBezTo>
                <a:lnTo>
                  <a:pt x="1230296" y="4778210"/>
                </a:lnTo>
                <a:cubicBezTo>
                  <a:pt x="550822" y="4778210"/>
                  <a:pt x="0" y="4227388"/>
                  <a:pt x="0" y="35479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6F5794-85A7-17A2-FFC2-4D48EE025E27}"/>
              </a:ext>
            </a:extLst>
          </p:cNvPr>
          <p:cNvSpPr/>
          <p:nvPr userDrawn="1"/>
        </p:nvSpPr>
        <p:spPr>
          <a:xfrm rot="2700000">
            <a:off x="9018425" y="1722637"/>
            <a:ext cx="1400920" cy="308899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DF1DF1-E612-7259-00E2-0E94AA9CD634}"/>
              </a:ext>
            </a:extLst>
          </p:cNvPr>
          <p:cNvSpPr/>
          <p:nvPr userDrawn="1"/>
        </p:nvSpPr>
        <p:spPr>
          <a:xfrm rot="2700000">
            <a:off x="11090780" y="1102947"/>
            <a:ext cx="573932" cy="2880691"/>
          </a:xfrm>
          <a:custGeom>
            <a:avLst/>
            <a:gdLst>
              <a:gd name="connsiteX0" fmla="*/ 0 w 573932"/>
              <a:gd name="connsiteY0" fmla="*/ 0 h 2880691"/>
              <a:gd name="connsiteX1" fmla="*/ 573932 w 573932"/>
              <a:gd name="connsiteY1" fmla="*/ 573932 h 2880691"/>
              <a:gd name="connsiteX2" fmla="*/ 573932 w 573932"/>
              <a:gd name="connsiteY2" fmla="*/ 2593725 h 2880691"/>
              <a:gd name="connsiteX3" fmla="*/ 286966 w 573932"/>
              <a:gd name="connsiteY3" fmla="*/ 2880691 h 2880691"/>
              <a:gd name="connsiteX4" fmla="*/ 0 w 573932"/>
              <a:gd name="connsiteY4" fmla="*/ 2593725 h 288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932" h="2880691">
                <a:moveTo>
                  <a:pt x="0" y="0"/>
                </a:moveTo>
                <a:lnTo>
                  <a:pt x="573932" y="573932"/>
                </a:lnTo>
                <a:lnTo>
                  <a:pt x="573932" y="2593725"/>
                </a:lnTo>
                <a:cubicBezTo>
                  <a:pt x="573932" y="2752212"/>
                  <a:pt x="445453" y="2880691"/>
                  <a:pt x="286966" y="2880691"/>
                </a:cubicBezTo>
                <a:cubicBezTo>
                  <a:pt x="128479" y="2880691"/>
                  <a:pt x="0" y="2752212"/>
                  <a:pt x="0" y="2593725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2A4BBE-9AC6-9A23-A558-3095FF713B7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120" y="5218685"/>
            <a:ext cx="2212298" cy="3999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57E1A5-6398-744B-9D89-B5FC950E8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265342"/>
            <a:ext cx="5650031" cy="208745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D3BA533-3ADD-8D51-053C-1D0D9AD32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767271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2" name="Picture Placeholder 41">
            <a:extLst>
              <a:ext uri="{FF2B5EF4-FFF2-40B4-BE49-F238E27FC236}">
                <a16:creationId xmlns:a16="http://schemas.microsoft.com/office/drawing/2014/main" id="{646C28D9-E3F6-9E2B-04BE-29A79EA666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846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91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6A038E8-64AE-8880-6663-5B5585D30CCB}"/>
              </a:ext>
            </a:extLst>
          </p:cNvPr>
          <p:cNvSpPr/>
          <p:nvPr userDrawn="1"/>
        </p:nvSpPr>
        <p:spPr>
          <a:xfrm rot="5400000">
            <a:off x="2133600" y="-1543050"/>
            <a:ext cx="5676900" cy="9944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0374AA-A7E2-AECE-1458-73409259AA40}"/>
              </a:ext>
            </a:extLst>
          </p:cNvPr>
          <p:cNvSpPr/>
          <p:nvPr userDrawn="1"/>
        </p:nvSpPr>
        <p:spPr>
          <a:xfrm>
            <a:off x="2" y="589788"/>
            <a:ext cx="2853043" cy="5678424"/>
          </a:xfrm>
          <a:custGeom>
            <a:avLst/>
            <a:gdLst>
              <a:gd name="connsiteX0" fmla="*/ 0 w 2853043"/>
              <a:gd name="connsiteY0" fmla="*/ 0 h 5678424"/>
              <a:gd name="connsiteX1" fmla="*/ 13830 w 2853043"/>
              <a:gd name="connsiteY1" fmla="*/ 0 h 5678424"/>
              <a:gd name="connsiteX2" fmla="*/ 2853043 w 2853043"/>
              <a:gd name="connsiteY2" fmla="*/ 2839212 h 5678424"/>
              <a:gd name="connsiteX3" fmla="*/ 2853042 w 2853043"/>
              <a:gd name="connsiteY3" fmla="*/ 2839212 h 5678424"/>
              <a:gd name="connsiteX4" fmla="*/ 13829 w 2853043"/>
              <a:gd name="connsiteY4" fmla="*/ 5678424 h 5678424"/>
              <a:gd name="connsiteX5" fmla="*/ 0 w 2853043"/>
              <a:gd name="connsiteY5" fmla="*/ 5678424 h 567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3043" h="5678424">
                <a:moveTo>
                  <a:pt x="0" y="0"/>
                </a:moveTo>
                <a:lnTo>
                  <a:pt x="13830" y="0"/>
                </a:lnTo>
                <a:cubicBezTo>
                  <a:pt x="1581884" y="0"/>
                  <a:pt x="2853043" y="1271159"/>
                  <a:pt x="2853043" y="2839212"/>
                </a:cubicBezTo>
                <a:lnTo>
                  <a:pt x="2853042" y="2839212"/>
                </a:lnTo>
                <a:cubicBezTo>
                  <a:pt x="2853042" y="4407266"/>
                  <a:pt x="1581883" y="5678424"/>
                  <a:pt x="13829" y="5678424"/>
                </a:cubicBezTo>
                <a:lnTo>
                  <a:pt x="0" y="5678424"/>
                </a:lnTo>
                <a:close/>
              </a:path>
            </a:pathLst>
          </a:custGeom>
          <a:gradFill flip="none" rotWithShape="1">
            <a:gsLst>
              <a:gs pos="0">
                <a:srgbClr val="3E747E"/>
              </a:gs>
              <a:gs pos="98000">
                <a:srgbClr val="6CE5C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1C33A8-1F18-8162-5652-8392E5AF91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411A8A4-6024-50CD-FEB3-D5754242D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354269" y="2400302"/>
            <a:ext cx="5446831" cy="205739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89349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081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6D66F840-DC3F-98E2-1515-EBA85FF8AB6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F9D131-ED47-159F-D2D8-EE9600953C46}"/>
              </a:ext>
            </a:extLst>
          </p:cNvPr>
          <p:cNvGrpSpPr/>
          <p:nvPr userDrawn="1"/>
        </p:nvGrpSpPr>
        <p:grpSpPr>
          <a:xfrm>
            <a:off x="6291548" y="469901"/>
            <a:ext cx="5651999" cy="5905499"/>
            <a:chOff x="-3636639" y="711200"/>
            <a:chExt cx="6563187" cy="685755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B0CD13D-716D-C239-E3F7-94F356E4BDD1}"/>
                </a:ext>
              </a:extLst>
            </p:cNvPr>
            <p:cNvSpPr/>
            <p:nvPr/>
          </p:nvSpPr>
          <p:spPr>
            <a:xfrm>
              <a:off x="-2915180" y="71120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8E56412-5E8B-A1F9-6893-9684E967775D}"/>
                </a:ext>
              </a:extLst>
            </p:cNvPr>
            <p:cNvSpPr/>
            <p:nvPr/>
          </p:nvSpPr>
          <p:spPr>
            <a:xfrm>
              <a:off x="-1246696" y="711200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C4114B-28B5-5F88-4DC0-2E450A0C1E15}"/>
                </a:ext>
              </a:extLst>
            </p:cNvPr>
            <p:cNvSpPr/>
            <p:nvPr/>
          </p:nvSpPr>
          <p:spPr>
            <a:xfrm>
              <a:off x="-1246770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AEE555-A49B-9B6E-955F-DA38BEC6E48D}"/>
                </a:ext>
              </a:extLst>
            </p:cNvPr>
            <p:cNvSpPr/>
            <p:nvPr/>
          </p:nvSpPr>
          <p:spPr>
            <a:xfrm>
              <a:off x="1228546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97164CF-FD44-445F-654A-F40CBDDCA5F8}"/>
                </a:ext>
              </a:extLst>
            </p:cNvPr>
            <p:cNvSpPr/>
            <p:nvPr/>
          </p:nvSpPr>
          <p:spPr>
            <a:xfrm>
              <a:off x="-413526" y="1632332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501A8E-B988-B0A4-38C2-E875AACF00F3}"/>
                </a:ext>
              </a:extLst>
            </p:cNvPr>
            <p:cNvSpPr/>
            <p:nvPr/>
          </p:nvSpPr>
          <p:spPr>
            <a:xfrm>
              <a:off x="308153" y="1632258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634FCA-D671-8E4E-FB65-176D5753BD81}"/>
                </a:ext>
              </a:extLst>
            </p:cNvPr>
            <p:cNvSpPr/>
            <p:nvPr/>
          </p:nvSpPr>
          <p:spPr>
            <a:xfrm>
              <a:off x="611252" y="2552724"/>
              <a:ext cx="2315296" cy="920392"/>
            </a:xfrm>
            <a:custGeom>
              <a:avLst/>
              <a:gdLst>
                <a:gd name="connsiteX0" fmla="*/ 1855063 w 2315296"/>
                <a:gd name="connsiteY0" fmla="*/ 0 h 920392"/>
                <a:gd name="connsiteX1" fmla="*/ 2315297 w 2315296"/>
                <a:gd name="connsiteY1" fmla="*/ 460233 h 920392"/>
                <a:gd name="connsiteX2" fmla="*/ 2315297 w 2315296"/>
                <a:gd name="connsiteY2" fmla="*/ 460159 h 920392"/>
                <a:gd name="connsiteX3" fmla="*/ 1855063 w 2315296"/>
                <a:gd name="connsiteY3" fmla="*/ 920392 h 920392"/>
                <a:gd name="connsiteX4" fmla="*/ 460233 w 2315296"/>
                <a:gd name="connsiteY4" fmla="*/ 920392 h 920392"/>
                <a:gd name="connsiteX5" fmla="*/ 0 w 2315296"/>
                <a:gd name="connsiteY5" fmla="*/ 460159 h 920392"/>
                <a:gd name="connsiteX6" fmla="*/ 0 w 2315296"/>
                <a:gd name="connsiteY6" fmla="*/ 460233 h 920392"/>
                <a:gd name="connsiteX7" fmla="*/ 460233 w 2315296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5296" h="920392">
                  <a:moveTo>
                    <a:pt x="1855063" y="0"/>
                  </a:moveTo>
                  <a:cubicBezTo>
                    <a:pt x="2109243" y="0"/>
                    <a:pt x="2315297" y="206053"/>
                    <a:pt x="2315297" y="460233"/>
                  </a:cubicBezTo>
                  <a:lnTo>
                    <a:pt x="2315297" y="460159"/>
                  </a:lnTo>
                  <a:cubicBezTo>
                    <a:pt x="2315297" y="714339"/>
                    <a:pt x="2109243" y="920392"/>
                    <a:pt x="1855063" y="920392"/>
                  </a:cubicBezTo>
                  <a:lnTo>
                    <a:pt x="460233" y="920392"/>
                  </a:lnTo>
                  <a:cubicBezTo>
                    <a:pt x="206054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24FC20-7D0D-869C-E9B7-7B299C8191A2}"/>
                </a:ext>
              </a:extLst>
            </p:cNvPr>
            <p:cNvSpPr/>
            <p:nvPr/>
          </p:nvSpPr>
          <p:spPr>
            <a:xfrm>
              <a:off x="1228546" y="3473117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D97B7C2-D247-4CB8-F5BE-35AB2F63072A}"/>
                </a:ext>
              </a:extLst>
            </p:cNvPr>
            <p:cNvSpPr/>
            <p:nvPr/>
          </p:nvSpPr>
          <p:spPr>
            <a:xfrm>
              <a:off x="1228620" y="4398096"/>
              <a:ext cx="1697928" cy="920392"/>
            </a:xfrm>
            <a:custGeom>
              <a:avLst/>
              <a:gdLst>
                <a:gd name="connsiteX0" fmla="*/ 1250642 w 1697928"/>
                <a:gd name="connsiteY0" fmla="*/ 0 h 920392"/>
                <a:gd name="connsiteX1" fmla="*/ 1697929 w 1697928"/>
                <a:gd name="connsiteY1" fmla="*/ 447287 h 920392"/>
                <a:gd name="connsiteX2" fmla="*/ 1697929 w 1697928"/>
                <a:gd name="connsiteY2" fmla="*/ 473106 h 920392"/>
                <a:gd name="connsiteX3" fmla="*/ 1250642 w 1697928"/>
                <a:gd name="connsiteY3" fmla="*/ 920393 h 920392"/>
                <a:gd name="connsiteX4" fmla="*/ 447286 w 1697928"/>
                <a:gd name="connsiteY4" fmla="*/ 920393 h 920392"/>
                <a:gd name="connsiteX5" fmla="*/ 0 w 1697928"/>
                <a:gd name="connsiteY5" fmla="*/ 473106 h 920392"/>
                <a:gd name="connsiteX6" fmla="*/ 0 w 1697928"/>
                <a:gd name="connsiteY6" fmla="*/ 447287 h 920392"/>
                <a:gd name="connsiteX7" fmla="*/ 447286 w 169792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7928" h="920392">
                  <a:moveTo>
                    <a:pt x="1250642" y="0"/>
                  </a:moveTo>
                  <a:cubicBezTo>
                    <a:pt x="1497671" y="0"/>
                    <a:pt x="1697929" y="200257"/>
                    <a:pt x="1697929" y="447287"/>
                  </a:cubicBezTo>
                  <a:lnTo>
                    <a:pt x="1697929" y="473106"/>
                  </a:lnTo>
                  <a:cubicBezTo>
                    <a:pt x="1697929" y="720135"/>
                    <a:pt x="1497672" y="920393"/>
                    <a:pt x="1250642" y="920393"/>
                  </a:cubicBezTo>
                  <a:lnTo>
                    <a:pt x="447286" y="920393"/>
                  </a:lnTo>
                  <a:cubicBezTo>
                    <a:pt x="200257" y="920393"/>
                    <a:pt x="0" y="720136"/>
                    <a:pt x="0" y="473106"/>
                  </a:cubicBezTo>
                  <a:lnTo>
                    <a:pt x="0" y="447287"/>
                  </a:lnTo>
                  <a:cubicBezTo>
                    <a:pt x="0" y="200257"/>
                    <a:pt x="200257" y="0"/>
                    <a:pt x="447286" y="0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346994-B426-203A-07D5-80547C708E56}"/>
                </a:ext>
              </a:extLst>
            </p:cNvPr>
            <p:cNvSpPr/>
            <p:nvPr/>
          </p:nvSpPr>
          <p:spPr>
            <a:xfrm>
              <a:off x="698919" y="5323001"/>
              <a:ext cx="1687275" cy="920392"/>
            </a:xfrm>
            <a:custGeom>
              <a:avLst/>
              <a:gdLst>
                <a:gd name="connsiteX0" fmla="*/ 1227042 w 1687275"/>
                <a:gd name="connsiteY0" fmla="*/ 0 h 920392"/>
                <a:gd name="connsiteX1" fmla="*/ 1687276 w 1687275"/>
                <a:gd name="connsiteY1" fmla="*/ 460233 h 920392"/>
                <a:gd name="connsiteX2" fmla="*/ 1687276 w 1687275"/>
                <a:gd name="connsiteY2" fmla="*/ 460159 h 920392"/>
                <a:gd name="connsiteX3" fmla="*/ 1227042 w 1687275"/>
                <a:gd name="connsiteY3" fmla="*/ 920393 h 920392"/>
                <a:gd name="connsiteX4" fmla="*/ 460233 w 1687275"/>
                <a:gd name="connsiteY4" fmla="*/ 920393 h 920392"/>
                <a:gd name="connsiteX5" fmla="*/ 0 w 1687275"/>
                <a:gd name="connsiteY5" fmla="*/ 460159 h 920392"/>
                <a:gd name="connsiteX6" fmla="*/ 0 w 1687275"/>
                <a:gd name="connsiteY6" fmla="*/ 460233 h 920392"/>
                <a:gd name="connsiteX7" fmla="*/ 460233 w 1687275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7275" h="920392">
                  <a:moveTo>
                    <a:pt x="1227042" y="0"/>
                  </a:moveTo>
                  <a:cubicBezTo>
                    <a:pt x="1481222" y="0"/>
                    <a:pt x="1687276" y="206053"/>
                    <a:pt x="1687276" y="460233"/>
                  </a:cubicBezTo>
                  <a:lnTo>
                    <a:pt x="1687276" y="460159"/>
                  </a:lnTo>
                  <a:cubicBezTo>
                    <a:pt x="1687276" y="714339"/>
                    <a:pt x="1481222" y="920393"/>
                    <a:pt x="1227042" y="920393"/>
                  </a:cubicBezTo>
                  <a:lnTo>
                    <a:pt x="460233" y="920393"/>
                  </a:lnTo>
                  <a:cubicBezTo>
                    <a:pt x="206054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5C3DCF-B310-DBED-FE6D-0455460C74D5}"/>
                </a:ext>
              </a:extLst>
            </p:cNvPr>
            <p:cNvSpPr/>
            <p:nvPr/>
          </p:nvSpPr>
          <p:spPr>
            <a:xfrm>
              <a:off x="1228546" y="647732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FF6048-5617-D6BF-9EBC-40116B532B38}"/>
                </a:ext>
              </a:extLst>
            </p:cNvPr>
            <p:cNvSpPr/>
            <p:nvPr/>
          </p:nvSpPr>
          <p:spPr>
            <a:xfrm>
              <a:off x="308153" y="647732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AC4BC1-7BB5-461D-4186-57D7CB424A62}"/>
                </a:ext>
              </a:extLst>
            </p:cNvPr>
            <p:cNvSpPr/>
            <p:nvPr/>
          </p:nvSpPr>
          <p:spPr>
            <a:xfrm rot="5400000">
              <a:off x="-783170" y="363990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6CC3A3-6381-6772-A88F-6A1C877E2CD2}"/>
                </a:ext>
              </a:extLst>
            </p:cNvPr>
            <p:cNvSpPr/>
            <p:nvPr/>
          </p:nvSpPr>
          <p:spPr>
            <a:xfrm>
              <a:off x="-413526" y="401287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4 w 920466"/>
                <a:gd name="connsiteY1" fmla="*/ 920467 h 920466"/>
                <a:gd name="connsiteX2" fmla="*/ 0 w 920466"/>
                <a:gd name="connsiteY2" fmla="*/ 460233 h 920466"/>
                <a:gd name="connsiteX3" fmla="*/ 460234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4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4" y="0"/>
                  </a:cubicBezTo>
                  <a:cubicBezTo>
                    <a:pt x="714413" y="0"/>
                    <a:pt x="920467" y="206054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7F3FD4-7F0C-7B88-D5D7-A9B1D4E7EDCD}"/>
                </a:ext>
              </a:extLst>
            </p:cNvPr>
            <p:cNvSpPr/>
            <p:nvPr/>
          </p:nvSpPr>
          <p:spPr>
            <a:xfrm>
              <a:off x="-41019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19D077-291C-F22B-E91D-1D74A19CCC20}"/>
                </a:ext>
              </a:extLst>
            </p:cNvPr>
            <p:cNvSpPr/>
            <p:nvPr/>
          </p:nvSpPr>
          <p:spPr>
            <a:xfrm>
              <a:off x="-1330590" y="4957611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6E80CF-7709-6FA0-986E-0B101C62C03D}"/>
                </a:ext>
              </a:extLst>
            </p:cNvPr>
            <p:cNvSpPr/>
            <p:nvPr/>
          </p:nvSpPr>
          <p:spPr>
            <a:xfrm rot="5400000">
              <a:off x="-1701861" y="627531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5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CA37FA-E05D-BBA4-0924-E5B6CE13357E}"/>
                </a:ext>
              </a:extLst>
            </p:cNvPr>
            <p:cNvSpPr/>
            <p:nvPr/>
          </p:nvSpPr>
          <p:spPr>
            <a:xfrm>
              <a:off x="-1332291" y="664828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C4B006-C207-FFD1-7D5E-2BCAFC191975}"/>
                </a:ext>
              </a:extLst>
            </p:cNvPr>
            <p:cNvSpPr/>
            <p:nvPr/>
          </p:nvSpPr>
          <p:spPr>
            <a:xfrm rot="16200000">
              <a:off x="-2625657" y="6275316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342DBC-543F-A8A9-8804-2A87D9DA9EFA}"/>
                </a:ext>
              </a:extLst>
            </p:cNvPr>
            <p:cNvSpPr/>
            <p:nvPr/>
          </p:nvSpPr>
          <p:spPr>
            <a:xfrm>
              <a:off x="-2249355" y="5902343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9A21E2-93C4-EF96-F88C-C69F3E89C47D}"/>
                </a:ext>
              </a:extLst>
            </p:cNvPr>
            <p:cNvSpPr/>
            <p:nvPr/>
          </p:nvSpPr>
          <p:spPr>
            <a:xfrm>
              <a:off x="-2055673" y="319102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C5232E-9DFD-3B3E-A3CF-ADE7F35CE79C}"/>
                </a:ext>
              </a:extLst>
            </p:cNvPr>
            <p:cNvSpPr/>
            <p:nvPr/>
          </p:nvSpPr>
          <p:spPr>
            <a:xfrm>
              <a:off x="-2972737" y="319102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E1A87EC-7FA0-AB16-D7AB-58663762D703}"/>
                </a:ext>
              </a:extLst>
            </p:cNvPr>
            <p:cNvSpPr/>
            <p:nvPr/>
          </p:nvSpPr>
          <p:spPr>
            <a:xfrm rot="5400000">
              <a:off x="-4006282" y="4584638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4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4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4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4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601C84-B052-D8A7-105C-A9C65E32CC8C}"/>
                </a:ext>
              </a:extLst>
            </p:cNvPr>
            <p:cNvSpPr/>
            <p:nvPr/>
          </p:nvSpPr>
          <p:spPr>
            <a:xfrm>
              <a:off x="-3636639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6E5C72-8486-1E66-04A7-D91B736D0636}"/>
                </a:ext>
              </a:extLst>
            </p:cNvPr>
            <p:cNvSpPr/>
            <p:nvPr/>
          </p:nvSpPr>
          <p:spPr>
            <a:xfrm>
              <a:off x="-271291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8E0F4A3-D638-A7B8-4A93-B69D33864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3381727"/>
            <a:ext cx="5419102" cy="2079273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07C91505-163B-33AB-6F26-775FAE5129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8289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05880F7E-2EF9-500F-8C65-8AE5422B4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9380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phic 23">
            <a:extLst>
              <a:ext uri="{FF2B5EF4-FFF2-40B4-BE49-F238E27FC236}">
                <a16:creationId xmlns:a16="http://schemas.microsoft.com/office/drawing/2014/main" id="{FA43C2D8-91E1-D523-C303-80C76AB672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5206E26-8F1D-9E77-06A9-3E52BE359D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31744" y="480060"/>
            <a:ext cx="2960256" cy="5891813"/>
          </a:xfrm>
          <a:custGeom>
            <a:avLst/>
            <a:gdLst>
              <a:gd name="connsiteX0" fmla="*/ 2945906 w 2960256"/>
              <a:gd name="connsiteY0" fmla="*/ 0 h 5891813"/>
              <a:gd name="connsiteX1" fmla="*/ 2960256 w 2960256"/>
              <a:gd name="connsiteY1" fmla="*/ 0 h 5891813"/>
              <a:gd name="connsiteX2" fmla="*/ 2960256 w 2960256"/>
              <a:gd name="connsiteY2" fmla="*/ 5891813 h 5891813"/>
              <a:gd name="connsiteX3" fmla="*/ 2945907 w 2960256"/>
              <a:gd name="connsiteY3" fmla="*/ 5891813 h 5891813"/>
              <a:gd name="connsiteX4" fmla="*/ 1 w 2960256"/>
              <a:gd name="connsiteY4" fmla="*/ 2945907 h 5891813"/>
              <a:gd name="connsiteX5" fmla="*/ 0 w 2960256"/>
              <a:gd name="connsiteY5" fmla="*/ 2945907 h 5891813"/>
              <a:gd name="connsiteX6" fmla="*/ 2945906 w 2960256"/>
              <a:gd name="connsiteY6" fmla="*/ 0 h 589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0256" h="5891813">
                <a:moveTo>
                  <a:pt x="2945906" y="0"/>
                </a:moveTo>
                <a:lnTo>
                  <a:pt x="2960256" y="0"/>
                </a:lnTo>
                <a:lnTo>
                  <a:pt x="2960256" y="5891813"/>
                </a:lnTo>
                <a:lnTo>
                  <a:pt x="2945907" y="5891813"/>
                </a:lnTo>
                <a:cubicBezTo>
                  <a:pt x="1318928" y="5891813"/>
                  <a:pt x="1" y="4572886"/>
                  <a:pt x="1" y="2945907"/>
                </a:cubicBezTo>
                <a:lnTo>
                  <a:pt x="0" y="2945907"/>
                </a:lnTo>
                <a:cubicBezTo>
                  <a:pt x="0" y="1318927"/>
                  <a:pt x="1318927" y="0"/>
                  <a:pt x="2945906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705249"/>
            <a:ext cx="8109732" cy="1441434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44pt Noto Sans Light sentence case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8AC6ABD-4638-0FE9-9EFB-87A913DE552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1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2 - IQVIA"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9584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DFA0D13-DE2C-0B2E-321B-3757559395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367171"/>
            <a:ext cx="6471432" cy="2123658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</a:t>
            </a:r>
            <a:br>
              <a:rPr lang="en-US"/>
            </a:br>
            <a:r>
              <a:rPr lang="en-US"/>
              <a:t>44pt Noto Sans Light sentence case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E7BBED7-1DCF-E62E-3826-549F8362CD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909973"/>
            <a:ext cx="2212298" cy="399963"/>
          </a:xfrm>
          <a:prstGeom prst="rect">
            <a:avLst/>
          </a:prstGeom>
        </p:spPr>
      </p:pic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E99BEF8-B37E-D639-B8AE-389ED1C2F410}"/>
              </a:ext>
            </a:extLst>
          </p:cNvPr>
          <p:cNvSpPr/>
          <p:nvPr userDrawn="1"/>
        </p:nvSpPr>
        <p:spPr>
          <a:xfrm rot="16200000" flipH="1">
            <a:off x="9687544" y="2143688"/>
            <a:ext cx="2514566" cy="249434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b="1" err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7E1F127-38D3-D9EB-971C-A039C20BDB56}"/>
              </a:ext>
            </a:extLst>
          </p:cNvPr>
          <p:cNvSpPr/>
          <p:nvPr userDrawn="1"/>
        </p:nvSpPr>
        <p:spPr>
          <a:xfrm flipH="1">
            <a:off x="8321628" y="0"/>
            <a:ext cx="3867268" cy="3850111"/>
          </a:xfrm>
          <a:custGeom>
            <a:avLst/>
            <a:gdLst>
              <a:gd name="connsiteX0" fmla="*/ 3867268 w 3867268"/>
              <a:gd name="connsiteY0" fmla="*/ 0 h 3850111"/>
              <a:gd name="connsiteX1" fmla="*/ 0 w 3867268"/>
              <a:gd name="connsiteY1" fmla="*/ 0 h 3850111"/>
              <a:gd name="connsiteX2" fmla="*/ 0 w 3867268"/>
              <a:gd name="connsiteY2" fmla="*/ 457200 h 3850111"/>
              <a:gd name="connsiteX3" fmla="*/ 0 w 3867268"/>
              <a:gd name="connsiteY3" fmla="*/ 1672128 h 3850111"/>
              <a:gd name="connsiteX4" fmla="*/ 0 w 3867268"/>
              <a:gd name="connsiteY4" fmla="*/ 2129328 h 3850111"/>
              <a:gd name="connsiteX5" fmla="*/ 26183 w 3867268"/>
              <a:gd name="connsiteY5" fmla="*/ 2300888 h 3850111"/>
              <a:gd name="connsiteX6" fmla="*/ 1927016 w 3867268"/>
              <a:gd name="connsiteY6" fmla="*/ 3850111 h 3850111"/>
              <a:gd name="connsiteX7" fmla="*/ 3867268 w 3867268"/>
              <a:gd name="connsiteY7" fmla="*/ 1909860 h 3850111"/>
              <a:gd name="connsiteX8" fmla="*/ 3867268 w 3867268"/>
              <a:gd name="connsiteY8" fmla="*/ 1452659 h 3850111"/>
              <a:gd name="connsiteX9" fmla="*/ 3867268 w 3867268"/>
              <a:gd name="connsiteY9" fmla="*/ 457200 h 3850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7268" h="3850111">
                <a:moveTo>
                  <a:pt x="3867268" y="0"/>
                </a:moveTo>
                <a:lnTo>
                  <a:pt x="0" y="0"/>
                </a:lnTo>
                <a:lnTo>
                  <a:pt x="0" y="457200"/>
                </a:lnTo>
                <a:lnTo>
                  <a:pt x="0" y="1672128"/>
                </a:lnTo>
                <a:lnTo>
                  <a:pt x="0" y="2129328"/>
                </a:lnTo>
                <a:lnTo>
                  <a:pt x="26183" y="2300888"/>
                </a:lnTo>
                <a:cubicBezTo>
                  <a:pt x="207105" y="3185028"/>
                  <a:pt x="989391" y="3850111"/>
                  <a:pt x="1927016" y="3850111"/>
                </a:cubicBezTo>
                <a:cubicBezTo>
                  <a:pt x="2998588" y="3850111"/>
                  <a:pt x="3867268" y="2981431"/>
                  <a:pt x="3867268" y="1909860"/>
                </a:cubicBezTo>
                <a:lnTo>
                  <a:pt x="3867268" y="1452659"/>
                </a:lnTo>
                <a:lnTo>
                  <a:pt x="3867268" y="457200"/>
                </a:ln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0CCFF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b="1" err="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0B38AA-2B30-B9A6-A77B-73C8C2812053}"/>
              </a:ext>
            </a:extLst>
          </p:cNvPr>
          <p:cNvSpPr/>
          <p:nvPr userDrawn="1"/>
        </p:nvSpPr>
        <p:spPr>
          <a:xfrm rot="16200000" flipH="1">
            <a:off x="10086560" y="1744672"/>
            <a:ext cx="1716534" cy="2494346"/>
          </a:xfrm>
          <a:custGeom>
            <a:avLst/>
            <a:gdLst>
              <a:gd name="connsiteX0" fmla="*/ 0 w 2808911"/>
              <a:gd name="connsiteY0" fmla="*/ 4081711 h 4081711"/>
              <a:gd name="connsiteX1" fmla="*/ 0 w 2808911"/>
              <a:gd name="connsiteY1" fmla="*/ 2051686 h 4081711"/>
              <a:gd name="connsiteX2" fmla="*/ 2051686 w 2808911"/>
              <a:gd name="connsiteY2" fmla="*/ 0 h 4081711"/>
              <a:gd name="connsiteX3" fmla="*/ 2063115 w 2808911"/>
              <a:gd name="connsiteY3" fmla="*/ 0 h 4081711"/>
              <a:gd name="connsiteX4" fmla="*/ 2673224 w 2808911"/>
              <a:gd name="connsiteY4" fmla="*/ 92240 h 4081711"/>
              <a:gd name="connsiteX5" fmla="*/ 2699582 w 2808911"/>
              <a:gd name="connsiteY5" fmla="*/ 101887 h 4081711"/>
              <a:gd name="connsiteX6" fmla="*/ 2708954 w 2808911"/>
              <a:gd name="connsiteY6" fmla="*/ 134890 h 4081711"/>
              <a:gd name="connsiteX7" fmla="*/ 2808911 w 2808911"/>
              <a:gd name="connsiteY7" fmla="*/ 928372 h 4081711"/>
              <a:gd name="connsiteX8" fmla="*/ 117432 w 2808911"/>
              <a:gd name="connsiteY8" fmla="*/ 4066789 h 4081711"/>
              <a:gd name="connsiteX9" fmla="*/ 0 w 2808911"/>
              <a:gd name="connsiteY9" fmla="*/ 4081711 h 40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8911" h="4081711">
                <a:moveTo>
                  <a:pt x="0" y="4081711"/>
                </a:moveTo>
                <a:lnTo>
                  <a:pt x="0" y="2051686"/>
                </a:lnTo>
                <a:cubicBezTo>
                  <a:pt x="0" y="918571"/>
                  <a:pt x="918572" y="-1"/>
                  <a:pt x="2051686" y="0"/>
                </a:cubicBezTo>
                <a:lnTo>
                  <a:pt x="2063115" y="0"/>
                </a:lnTo>
                <a:cubicBezTo>
                  <a:pt x="2275574" y="0"/>
                  <a:pt x="2480491" y="32293"/>
                  <a:pt x="2673224" y="92240"/>
                </a:cubicBezTo>
                <a:lnTo>
                  <a:pt x="2699582" y="101887"/>
                </a:lnTo>
                <a:lnTo>
                  <a:pt x="2708954" y="134890"/>
                </a:lnTo>
                <a:cubicBezTo>
                  <a:pt x="2774207" y="388507"/>
                  <a:pt x="2808911" y="654387"/>
                  <a:pt x="2808911" y="928372"/>
                </a:cubicBezTo>
                <a:cubicBezTo>
                  <a:pt x="2808911" y="2517485"/>
                  <a:pt x="1641452" y="3833923"/>
                  <a:pt x="117432" y="4066789"/>
                </a:cubicBezTo>
                <a:lnTo>
                  <a:pt x="0" y="408171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b="1" err="1"/>
          </a:p>
        </p:txBody>
      </p:sp>
    </p:spTree>
    <p:extLst>
      <p:ext uri="{BB962C8B-B14F-4D97-AF65-F5344CB8AC3E}">
        <p14:creationId xmlns:p14="http://schemas.microsoft.com/office/powerpoint/2010/main" val="23762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D5707B5-4B1B-A573-DE59-103C6B9B38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6216112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395" imgH="396" progId="TCLayout.ActiveDocument.1">
                  <p:embed/>
                </p:oleObj>
              </mc:Choice>
              <mc:Fallback>
                <p:oleObj name="think-cell Slide" r:id="rId38" imgW="395" imgH="39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5707B5-4B1B-A573-DE59-103C6B9B3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6096000" y="6858000"/>
            <a:ext cx="6096001" cy="2769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j-lt"/>
                <a:ea typeface="+mn-ea"/>
                <a:cs typeface="+mn-cs"/>
              </a:rPr>
              <a:t>IQVIA Template (V4.0.0)</a:t>
            </a:r>
            <a:endParaRPr lang="en-US" sz="1000" kern="1200">
              <a:solidFill>
                <a:schemeClr val="bg1">
                  <a:lumMod val="50000"/>
                </a:schemeClr>
              </a:solidFill>
              <a:latin typeface="+mj-lt"/>
              <a:ea typeface="Arial" charset="0"/>
              <a:cs typeface="Arial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FB6BC3-1B53-2FE2-764B-A15DD9E2BD6B}"/>
              </a:ext>
            </a:extLst>
          </p:cNvPr>
          <p:cNvGrpSpPr/>
          <p:nvPr userDrawn="1"/>
        </p:nvGrpSpPr>
        <p:grpSpPr>
          <a:xfrm>
            <a:off x="12308083" y="0"/>
            <a:ext cx="851744" cy="3736190"/>
            <a:chOff x="12308083" y="0"/>
            <a:chExt cx="851744" cy="37361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B1BCA1-589B-A8E6-DE21-36891188309A}"/>
                </a:ext>
              </a:extLst>
            </p:cNvPr>
            <p:cNvGrpSpPr/>
            <p:nvPr userDrawn="1"/>
          </p:nvGrpSpPr>
          <p:grpSpPr>
            <a:xfrm>
              <a:off x="12308083" y="2649326"/>
              <a:ext cx="851743" cy="187184"/>
              <a:chOff x="12308083" y="2627114"/>
              <a:chExt cx="851743" cy="187184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46DD2B6-4144-9C44-8392-9127F5DADBD1}"/>
                  </a:ext>
                </a:extLst>
              </p:cNvPr>
              <p:cNvSpPr/>
              <p:nvPr/>
            </p:nvSpPr>
            <p:spPr bwMode="gray">
              <a:xfrm>
                <a:off x="12308083" y="2627114"/>
                <a:ext cx="187184" cy="187184"/>
              </a:xfrm>
              <a:prstGeom prst="rect">
                <a:avLst/>
              </a:prstGeom>
              <a:solidFill>
                <a:srgbClr val="2B3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BE2A7EF-3365-0441-9D19-475B521B2290}"/>
                  </a:ext>
                </a:extLst>
              </p:cNvPr>
              <p:cNvSpPr/>
              <p:nvPr/>
            </p:nvSpPr>
            <p:spPr bwMode="gray">
              <a:xfrm>
                <a:off x="12751123" y="2627114"/>
                <a:ext cx="187184" cy="187184"/>
              </a:xfrm>
              <a:prstGeom prst="rect">
                <a:avLst/>
              </a:prstGeom>
              <a:solidFill>
                <a:srgbClr val="606B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5E57586-5BBB-444A-AF8C-B41739BFA68E}"/>
                  </a:ext>
                </a:extLst>
              </p:cNvPr>
              <p:cNvSpPr/>
              <p:nvPr/>
            </p:nvSpPr>
            <p:spPr bwMode="gray">
              <a:xfrm>
                <a:off x="12972642" y="2627114"/>
                <a:ext cx="187184" cy="187184"/>
              </a:xfrm>
              <a:prstGeom prst="rect">
                <a:avLst/>
              </a:prstGeom>
              <a:solidFill>
                <a:srgbClr val="CACED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900B15B-0301-9442-BA29-DAF74AC2ED47}"/>
                  </a:ext>
                </a:extLst>
              </p:cNvPr>
              <p:cNvSpPr/>
              <p:nvPr/>
            </p:nvSpPr>
            <p:spPr bwMode="gray">
              <a:xfrm>
                <a:off x="12529603" y="2627114"/>
                <a:ext cx="187184" cy="187184"/>
              </a:xfrm>
              <a:prstGeom prst="rect">
                <a:avLst/>
              </a:prstGeom>
              <a:solidFill>
                <a:srgbClr val="959C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96C095-9B66-F444-862E-DE666BC5DC9E}"/>
                </a:ext>
              </a:extLst>
            </p:cNvPr>
            <p:cNvSpPr txBox="1"/>
            <p:nvPr/>
          </p:nvSpPr>
          <p:spPr>
            <a:xfrm>
              <a:off x="12308083" y="0"/>
              <a:ext cx="851744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+mj-lt"/>
                </a:rPr>
                <a:t>100%  50%   75%   25%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307F83F-C095-6957-9133-BF721D059EDD}"/>
                </a:ext>
              </a:extLst>
            </p:cNvPr>
            <p:cNvGrpSpPr/>
            <p:nvPr userDrawn="1"/>
          </p:nvGrpSpPr>
          <p:grpSpPr>
            <a:xfrm>
              <a:off x="12308083" y="419226"/>
              <a:ext cx="851743" cy="188638"/>
              <a:chOff x="12308083" y="418248"/>
              <a:chExt cx="851743" cy="188638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51FF5A3B-DFB1-5F43-A2EF-04D81F0CA37E}"/>
                  </a:ext>
                </a:extLst>
              </p:cNvPr>
              <p:cNvSpPr/>
              <p:nvPr/>
            </p:nvSpPr>
            <p:spPr bwMode="gray">
              <a:xfrm>
                <a:off x="12529603" y="418248"/>
                <a:ext cx="187184" cy="187184"/>
              </a:xfrm>
              <a:prstGeom prst="rect">
                <a:avLst/>
              </a:prstGeom>
              <a:solidFill>
                <a:srgbClr val="7FAA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C2D4C9F2-E663-FE4E-91B5-486C3221C4FF}"/>
                  </a:ext>
                </a:extLst>
              </p:cNvPr>
              <p:cNvSpPr/>
              <p:nvPr/>
            </p:nvSpPr>
            <p:spPr bwMode="gray">
              <a:xfrm>
                <a:off x="12751122" y="418248"/>
                <a:ext cx="187184" cy="187184"/>
              </a:xfrm>
              <a:prstGeom prst="rect">
                <a:avLst/>
              </a:prstGeom>
              <a:solidFill>
                <a:srgbClr val="4080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8F062A5-65F4-EC4E-99C6-45D7627564E3}"/>
                  </a:ext>
                </a:extLst>
              </p:cNvPr>
              <p:cNvSpPr/>
              <p:nvPr/>
            </p:nvSpPr>
            <p:spPr bwMode="gray">
              <a:xfrm>
                <a:off x="12972642" y="418248"/>
                <a:ext cx="187184" cy="187184"/>
              </a:xfrm>
              <a:prstGeom prst="rect">
                <a:avLst/>
              </a:prstGeom>
              <a:solidFill>
                <a:srgbClr val="BFD4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BC28099-48BB-8E4A-9E3A-F5749D3F9E0A}"/>
                  </a:ext>
                </a:extLst>
              </p:cNvPr>
              <p:cNvSpPr/>
              <p:nvPr/>
            </p:nvSpPr>
            <p:spPr bwMode="gray">
              <a:xfrm>
                <a:off x="12308083" y="419702"/>
                <a:ext cx="187184" cy="187184"/>
              </a:xfrm>
              <a:prstGeom prst="rect">
                <a:avLst/>
              </a:prstGeom>
              <a:solidFill>
                <a:srgbClr val="00558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4D31852-4FF2-4DC7-9F4F-12F33E8E006F}"/>
                </a:ext>
              </a:extLst>
            </p:cNvPr>
            <p:cNvGrpSpPr/>
            <p:nvPr userDrawn="1"/>
          </p:nvGrpSpPr>
          <p:grpSpPr>
            <a:xfrm>
              <a:off x="12308083" y="196943"/>
              <a:ext cx="851743" cy="187184"/>
              <a:chOff x="12308083" y="196943"/>
              <a:chExt cx="851743" cy="187184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ABDCF59-39B4-D741-804B-DA8E5356DEE0}"/>
                  </a:ext>
                </a:extLst>
              </p:cNvPr>
              <p:cNvSpPr/>
              <p:nvPr/>
            </p:nvSpPr>
            <p:spPr bwMode="gray">
              <a:xfrm>
                <a:off x="12529603" y="196943"/>
                <a:ext cx="187184" cy="187184"/>
              </a:xfrm>
              <a:prstGeom prst="rect">
                <a:avLst/>
              </a:prstGeom>
              <a:solidFill>
                <a:srgbClr val="7FD1E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48595AD6-FC65-BD4F-A0A3-C9735B09BF97}"/>
                  </a:ext>
                </a:extLst>
              </p:cNvPr>
              <p:cNvSpPr/>
              <p:nvPr/>
            </p:nvSpPr>
            <p:spPr bwMode="gray">
              <a:xfrm>
                <a:off x="12751122" y="196943"/>
                <a:ext cx="187184" cy="187184"/>
              </a:xfrm>
              <a:prstGeom prst="rect">
                <a:avLst/>
              </a:prstGeom>
              <a:solidFill>
                <a:srgbClr val="40BA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E87748B-6503-C94A-A0A5-ECF75744DC53}"/>
                  </a:ext>
                </a:extLst>
              </p:cNvPr>
              <p:cNvSpPr/>
              <p:nvPr/>
            </p:nvSpPr>
            <p:spPr bwMode="gray">
              <a:xfrm>
                <a:off x="12972642" y="196943"/>
                <a:ext cx="187184" cy="187184"/>
              </a:xfrm>
              <a:prstGeom prst="rect">
                <a:avLst/>
              </a:prstGeom>
              <a:solidFill>
                <a:srgbClr val="BFE8F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412DE59-4F68-1A4F-81B2-F45A075CF184}"/>
                  </a:ext>
                </a:extLst>
              </p:cNvPr>
              <p:cNvSpPr/>
              <p:nvPr/>
            </p:nvSpPr>
            <p:spPr bwMode="gray">
              <a:xfrm>
                <a:off x="12308083" y="196943"/>
                <a:ext cx="187184" cy="187184"/>
              </a:xfrm>
              <a:prstGeom prst="rect">
                <a:avLst/>
              </a:prstGeom>
              <a:solidFill>
                <a:srgbClr val="00A3E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A79F80-D902-1962-861B-63DE988E9D1F}"/>
                </a:ext>
              </a:extLst>
            </p:cNvPr>
            <p:cNvGrpSpPr/>
            <p:nvPr userDrawn="1"/>
          </p:nvGrpSpPr>
          <p:grpSpPr>
            <a:xfrm>
              <a:off x="12308083" y="1087529"/>
              <a:ext cx="851743" cy="190092"/>
              <a:chOff x="12308083" y="1080414"/>
              <a:chExt cx="851743" cy="190092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91C1BDA-5D81-794C-B1A7-67CC9CE1EE1E}"/>
                  </a:ext>
                </a:extLst>
              </p:cNvPr>
              <p:cNvSpPr/>
              <p:nvPr/>
            </p:nvSpPr>
            <p:spPr bwMode="gray">
              <a:xfrm>
                <a:off x="12529603" y="1080414"/>
                <a:ext cx="187184" cy="187184"/>
              </a:xfrm>
              <a:prstGeom prst="rect">
                <a:avLst/>
              </a:prstGeom>
              <a:solidFill>
                <a:srgbClr val="7FDFD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26E8257-987A-C249-A28B-F90461918BC4}"/>
                  </a:ext>
                </a:extLst>
              </p:cNvPr>
              <p:cNvSpPr/>
              <p:nvPr/>
            </p:nvSpPr>
            <p:spPr bwMode="gray">
              <a:xfrm>
                <a:off x="12751122" y="1080414"/>
                <a:ext cx="187184" cy="187184"/>
              </a:xfrm>
              <a:prstGeom prst="rect">
                <a:avLst/>
              </a:prstGeom>
              <a:solidFill>
                <a:srgbClr val="40CFC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C325A48-0CB1-104E-BA30-9A71DD6D61AB}"/>
                  </a:ext>
                </a:extLst>
              </p:cNvPr>
              <p:cNvSpPr/>
              <p:nvPr/>
            </p:nvSpPr>
            <p:spPr bwMode="gray">
              <a:xfrm>
                <a:off x="12972642" y="1080414"/>
                <a:ext cx="187184" cy="187184"/>
              </a:xfrm>
              <a:prstGeom prst="rect">
                <a:avLst/>
              </a:prstGeom>
              <a:solidFill>
                <a:srgbClr val="BFEF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96B5B61B-C053-424B-AAFB-3CAEB0DDF986}"/>
                  </a:ext>
                </a:extLst>
              </p:cNvPr>
              <p:cNvSpPr/>
              <p:nvPr/>
            </p:nvSpPr>
            <p:spPr bwMode="gray">
              <a:xfrm>
                <a:off x="12308083" y="1083322"/>
                <a:ext cx="187184" cy="187184"/>
              </a:xfrm>
              <a:prstGeom prst="rect">
                <a:avLst/>
              </a:prstGeom>
              <a:solidFill>
                <a:srgbClr val="00BFB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9EF6F7-8078-2AA2-2468-0446932D2A36}"/>
                </a:ext>
              </a:extLst>
            </p:cNvPr>
            <p:cNvGrpSpPr/>
            <p:nvPr userDrawn="1"/>
          </p:nvGrpSpPr>
          <p:grpSpPr>
            <a:xfrm>
              <a:off x="12308083" y="2204760"/>
              <a:ext cx="851743" cy="187184"/>
              <a:chOff x="12308083" y="2181904"/>
              <a:chExt cx="851743" cy="187184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A9EA6558-DD3B-7A4C-91B0-97252C1832CF}"/>
                  </a:ext>
                </a:extLst>
              </p:cNvPr>
              <p:cNvSpPr/>
              <p:nvPr/>
            </p:nvSpPr>
            <p:spPr bwMode="gray">
              <a:xfrm>
                <a:off x="12308083" y="2181904"/>
                <a:ext cx="187184" cy="187184"/>
              </a:xfrm>
              <a:prstGeom prst="rect">
                <a:avLst/>
              </a:prstGeom>
              <a:solidFill>
                <a:srgbClr val="02722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34F6D7E-6CD3-7B49-9F1D-6D78AACEFF91}"/>
                  </a:ext>
                </a:extLst>
              </p:cNvPr>
              <p:cNvSpPr/>
              <p:nvPr/>
            </p:nvSpPr>
            <p:spPr bwMode="gray">
              <a:xfrm>
                <a:off x="12529603" y="2181904"/>
                <a:ext cx="187184" cy="187184"/>
              </a:xfrm>
              <a:prstGeom prst="rect">
                <a:avLst/>
              </a:prstGeom>
              <a:solidFill>
                <a:srgbClr val="80B89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C91976CC-682F-9849-BB70-F87EC81993D2}"/>
                  </a:ext>
                </a:extLst>
              </p:cNvPr>
              <p:cNvSpPr/>
              <p:nvPr/>
            </p:nvSpPr>
            <p:spPr bwMode="gray">
              <a:xfrm>
                <a:off x="12751122" y="2181904"/>
                <a:ext cx="187184" cy="187184"/>
              </a:xfrm>
              <a:prstGeom prst="rect">
                <a:avLst/>
              </a:prstGeom>
              <a:solidFill>
                <a:srgbClr val="41955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B89722E-49F3-144D-AC2D-0950AC3ACF7F}"/>
                  </a:ext>
                </a:extLst>
              </p:cNvPr>
              <p:cNvSpPr/>
              <p:nvPr/>
            </p:nvSpPr>
            <p:spPr bwMode="gray">
              <a:xfrm>
                <a:off x="12972642" y="2181904"/>
                <a:ext cx="187184" cy="187184"/>
              </a:xfrm>
              <a:prstGeom prst="rect">
                <a:avLst/>
              </a:prstGeom>
              <a:solidFill>
                <a:srgbClr val="C0DCC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5EA531-8644-120F-18B0-28D3A1DB590C}"/>
                </a:ext>
              </a:extLst>
            </p:cNvPr>
            <p:cNvGrpSpPr/>
            <p:nvPr userDrawn="1"/>
          </p:nvGrpSpPr>
          <p:grpSpPr>
            <a:xfrm>
              <a:off x="12308083" y="1982477"/>
              <a:ext cx="851743" cy="187184"/>
              <a:chOff x="12308083" y="1960536"/>
              <a:chExt cx="851743" cy="187184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C6FF5B6-5DBB-B04F-B902-B9A93A757215}"/>
                  </a:ext>
                </a:extLst>
              </p:cNvPr>
              <p:cNvSpPr/>
              <p:nvPr/>
            </p:nvSpPr>
            <p:spPr bwMode="gray">
              <a:xfrm>
                <a:off x="12308083" y="1960536"/>
                <a:ext cx="187184" cy="187184"/>
              </a:xfrm>
              <a:prstGeom prst="rect">
                <a:avLst/>
              </a:prstGeom>
              <a:solidFill>
                <a:srgbClr val="43B0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BF821065-02C2-EF4B-9F9C-E2A91FD8F316}"/>
                  </a:ext>
                </a:extLst>
              </p:cNvPr>
              <p:cNvSpPr/>
              <p:nvPr/>
            </p:nvSpPr>
            <p:spPr bwMode="gray">
              <a:xfrm>
                <a:off x="12529603" y="1960536"/>
                <a:ext cx="187184" cy="187184"/>
              </a:xfrm>
              <a:prstGeom prst="rect">
                <a:avLst/>
              </a:prstGeom>
              <a:solidFill>
                <a:srgbClr val="A1D79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79483A8-0232-0548-BBDE-CAC5A5717E5B}"/>
                  </a:ext>
                </a:extLst>
              </p:cNvPr>
              <p:cNvSpPr/>
              <p:nvPr/>
            </p:nvSpPr>
            <p:spPr bwMode="gray">
              <a:xfrm>
                <a:off x="12751122" y="1960536"/>
                <a:ext cx="187184" cy="187184"/>
              </a:xfrm>
              <a:prstGeom prst="rect">
                <a:avLst/>
              </a:prstGeom>
              <a:solidFill>
                <a:srgbClr val="72C4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CF64A98-8F5F-364E-9BF7-4F76EBB2E875}"/>
                  </a:ext>
                </a:extLst>
              </p:cNvPr>
              <p:cNvSpPr/>
              <p:nvPr/>
            </p:nvSpPr>
            <p:spPr bwMode="gray">
              <a:xfrm>
                <a:off x="12972642" y="1960536"/>
                <a:ext cx="187184" cy="187184"/>
              </a:xfrm>
              <a:prstGeom prst="rect">
                <a:avLst/>
              </a:prstGeom>
              <a:solidFill>
                <a:srgbClr val="D0EB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8D56737-D7FA-9241-BF90-CDAA19D3F175}"/>
                </a:ext>
              </a:extLst>
            </p:cNvPr>
            <p:cNvSpPr/>
            <p:nvPr/>
          </p:nvSpPr>
          <p:spPr bwMode="gray">
            <a:xfrm>
              <a:off x="12308083" y="643208"/>
              <a:ext cx="187184" cy="187184"/>
            </a:xfrm>
            <a:prstGeom prst="rect">
              <a:avLst/>
            </a:prstGeom>
            <a:solidFill>
              <a:srgbClr val="00CC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3825342-AAFF-0E4E-A60C-2B8AB690F64E}"/>
                </a:ext>
              </a:extLst>
            </p:cNvPr>
            <p:cNvSpPr txBox="1"/>
            <p:nvPr/>
          </p:nvSpPr>
          <p:spPr>
            <a:xfrm>
              <a:off x="12528890" y="645726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Blue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E6951A-1135-BF4C-8E4A-27E4A4579C3B}"/>
                </a:ext>
              </a:extLst>
            </p:cNvPr>
            <p:cNvSpPr/>
            <p:nvPr/>
          </p:nvSpPr>
          <p:spPr bwMode="gray">
            <a:xfrm>
              <a:off x="12308083" y="865246"/>
              <a:ext cx="187184" cy="187184"/>
            </a:xfrm>
            <a:prstGeom prst="rect">
              <a:avLst/>
            </a:prstGeom>
            <a:solidFill>
              <a:srgbClr val="140B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2B3BE3E-8803-DD42-B96E-2D6A35B5C8FE}"/>
                </a:ext>
              </a:extLst>
            </p:cNvPr>
            <p:cNvSpPr txBox="1"/>
            <p:nvPr/>
          </p:nvSpPr>
          <p:spPr>
            <a:xfrm>
              <a:off x="12529603" y="867764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Indigo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CE559D8-A3FE-2ADF-C818-6A2239BA9C8D}"/>
                </a:ext>
              </a:extLst>
            </p:cNvPr>
            <p:cNvGrpSpPr/>
            <p:nvPr userDrawn="1"/>
          </p:nvGrpSpPr>
          <p:grpSpPr>
            <a:xfrm>
              <a:off x="12308083" y="1312720"/>
              <a:ext cx="851743" cy="190092"/>
              <a:chOff x="12308083" y="1309014"/>
              <a:chExt cx="851743" cy="190092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D6E8F370-88B7-B143-BECC-56B2696E26F2}"/>
                  </a:ext>
                </a:extLst>
              </p:cNvPr>
              <p:cNvSpPr/>
              <p:nvPr/>
            </p:nvSpPr>
            <p:spPr bwMode="gray">
              <a:xfrm>
                <a:off x="12529603" y="1309014"/>
                <a:ext cx="187184" cy="187184"/>
              </a:xfrm>
              <a:prstGeom prst="rect">
                <a:avLst/>
              </a:prstGeom>
              <a:solidFill>
                <a:srgbClr val="80C7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777473D-86CB-DC41-A591-538A0820099A}"/>
                  </a:ext>
                </a:extLst>
              </p:cNvPr>
              <p:cNvSpPr/>
              <p:nvPr/>
            </p:nvSpPr>
            <p:spPr bwMode="gray">
              <a:xfrm>
                <a:off x="12751122" y="1309014"/>
                <a:ext cx="187184" cy="187184"/>
              </a:xfrm>
              <a:prstGeom prst="rect">
                <a:avLst/>
              </a:prstGeom>
              <a:solidFill>
                <a:srgbClr val="40A49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989B0485-B1FD-0E46-998C-70BF14846660}"/>
                  </a:ext>
                </a:extLst>
              </p:cNvPr>
              <p:cNvSpPr/>
              <p:nvPr/>
            </p:nvSpPr>
            <p:spPr bwMode="gray">
              <a:xfrm>
                <a:off x="12972642" y="1309014"/>
                <a:ext cx="187184" cy="187184"/>
              </a:xfrm>
              <a:prstGeom prst="rect">
                <a:avLst/>
              </a:prstGeom>
              <a:solidFill>
                <a:srgbClr val="CCE9E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3488BCE-878D-4A43-AA90-4912A715E8BD}"/>
                  </a:ext>
                </a:extLst>
              </p:cNvPr>
              <p:cNvSpPr/>
              <p:nvPr/>
            </p:nvSpPr>
            <p:spPr bwMode="gray">
              <a:xfrm>
                <a:off x="12308083" y="1311922"/>
                <a:ext cx="187184" cy="187184"/>
              </a:xfrm>
              <a:prstGeom prst="rect">
                <a:avLst/>
              </a:prstGeom>
              <a:solidFill>
                <a:srgbClr val="008F8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AB8F119-F5FE-2149-92FB-75F8830718E6}"/>
                </a:ext>
              </a:extLst>
            </p:cNvPr>
            <p:cNvSpPr/>
            <p:nvPr/>
          </p:nvSpPr>
          <p:spPr bwMode="gray">
            <a:xfrm>
              <a:off x="12308083" y="1537911"/>
              <a:ext cx="187184" cy="187184"/>
            </a:xfrm>
            <a:prstGeom prst="rect">
              <a:avLst/>
            </a:prstGeom>
            <a:solidFill>
              <a:srgbClr val="0CEF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4276137-38CE-CE41-8278-45DD99244B1A}"/>
                </a:ext>
              </a:extLst>
            </p:cNvPr>
            <p:cNvSpPr txBox="1"/>
            <p:nvPr/>
          </p:nvSpPr>
          <p:spPr>
            <a:xfrm>
              <a:off x="12528890" y="1540429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Teal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FDF16C-E3D9-5A43-B4BA-A2D0BD2547E2}"/>
                </a:ext>
              </a:extLst>
            </p:cNvPr>
            <p:cNvSpPr/>
            <p:nvPr/>
          </p:nvSpPr>
          <p:spPr bwMode="gray">
            <a:xfrm>
              <a:off x="12308083" y="2427043"/>
              <a:ext cx="187184" cy="187184"/>
            </a:xfrm>
            <a:prstGeom prst="rect">
              <a:avLst/>
            </a:prstGeom>
            <a:solidFill>
              <a:srgbClr val="79D8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AF546EF-4A91-2643-AD8A-13B35443E7F5}"/>
                </a:ext>
              </a:extLst>
            </p:cNvPr>
            <p:cNvSpPr txBox="1"/>
            <p:nvPr/>
          </p:nvSpPr>
          <p:spPr>
            <a:xfrm>
              <a:off x="12528890" y="2429561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Green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8E6B63-0E18-2B5F-AE36-0B95FD27C5A3}"/>
                </a:ext>
              </a:extLst>
            </p:cNvPr>
            <p:cNvSpPr/>
            <p:nvPr userDrawn="1"/>
          </p:nvSpPr>
          <p:spPr bwMode="gray">
            <a:xfrm>
              <a:off x="12308083" y="1760194"/>
              <a:ext cx="187184" cy="187184"/>
            </a:xfrm>
            <a:prstGeom prst="rect">
              <a:avLst/>
            </a:prstGeom>
            <a:solidFill>
              <a:srgbClr val="1154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EB9D1A-6121-A3E4-E861-1158A6F8F31B}"/>
                </a:ext>
              </a:extLst>
            </p:cNvPr>
            <p:cNvSpPr txBox="1"/>
            <p:nvPr userDrawn="1"/>
          </p:nvSpPr>
          <p:spPr>
            <a:xfrm>
              <a:off x="12529603" y="1762712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Emerald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FEE050B-86F4-9EDD-08D3-38751AEE6DF2}"/>
                </a:ext>
              </a:extLst>
            </p:cNvPr>
            <p:cNvGrpSpPr/>
            <p:nvPr userDrawn="1"/>
          </p:nvGrpSpPr>
          <p:grpSpPr>
            <a:xfrm>
              <a:off x="12308083" y="3097878"/>
              <a:ext cx="851744" cy="187184"/>
              <a:chOff x="12308083" y="3083609"/>
              <a:chExt cx="851744" cy="18718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D001CB-AF8A-510D-F4E9-A6191A4A78C5}"/>
                  </a:ext>
                </a:extLst>
              </p:cNvPr>
              <p:cNvSpPr/>
              <p:nvPr userDrawn="1"/>
            </p:nvSpPr>
            <p:spPr bwMode="gray">
              <a:xfrm>
                <a:off x="12308083" y="3083609"/>
                <a:ext cx="187184" cy="187184"/>
              </a:xfrm>
              <a:prstGeom prst="rect">
                <a:avLst/>
              </a:prstGeom>
              <a:solidFill>
                <a:srgbClr val="8300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D5362CE-1EF2-DC8F-37D5-6E294F2C5F7B}"/>
                  </a:ext>
                </a:extLst>
              </p:cNvPr>
              <p:cNvSpPr/>
              <p:nvPr userDrawn="1"/>
            </p:nvSpPr>
            <p:spPr bwMode="gray">
              <a:xfrm>
                <a:off x="12529603" y="3083609"/>
                <a:ext cx="187184" cy="187184"/>
              </a:xfrm>
              <a:prstGeom prst="rect">
                <a:avLst/>
              </a:prstGeom>
              <a:solidFill>
                <a:srgbClr val="C17F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DE12495-5861-0BBD-F5F7-B7ED59C0424F}"/>
                  </a:ext>
                </a:extLst>
              </p:cNvPr>
              <p:cNvSpPr/>
              <p:nvPr userDrawn="1"/>
            </p:nvSpPr>
            <p:spPr bwMode="gray">
              <a:xfrm>
                <a:off x="12751123" y="3083609"/>
                <a:ext cx="187184" cy="187184"/>
              </a:xfrm>
              <a:prstGeom prst="rect">
                <a:avLst/>
              </a:prstGeom>
              <a:solidFill>
                <a:srgbClr val="A240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B3A3D63-78D8-0C24-20F2-047870D04711}"/>
                  </a:ext>
                </a:extLst>
              </p:cNvPr>
              <p:cNvSpPr/>
              <p:nvPr userDrawn="1"/>
            </p:nvSpPr>
            <p:spPr bwMode="gray">
              <a:xfrm>
                <a:off x="12972643" y="3083609"/>
                <a:ext cx="187184" cy="187184"/>
              </a:xfrm>
              <a:prstGeom prst="rect">
                <a:avLst/>
              </a:prstGeom>
              <a:solidFill>
                <a:srgbClr val="E0BF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3528DAC4-D111-4C1B-5FDB-C04C7AC728C5}"/>
                </a:ext>
              </a:extLst>
            </p:cNvPr>
            <p:cNvGrpSpPr/>
            <p:nvPr userDrawn="1"/>
          </p:nvGrpSpPr>
          <p:grpSpPr>
            <a:xfrm>
              <a:off x="12308083" y="2872314"/>
              <a:ext cx="851744" cy="187184"/>
              <a:chOff x="12308083" y="2872314"/>
              <a:chExt cx="851744" cy="1871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0BE49B6-BFF2-0D68-3894-BBC0F185ED5A}"/>
                  </a:ext>
                </a:extLst>
              </p:cNvPr>
              <p:cNvSpPr/>
              <p:nvPr userDrawn="1"/>
            </p:nvSpPr>
            <p:spPr bwMode="gray">
              <a:xfrm>
                <a:off x="12308083" y="2872314"/>
                <a:ext cx="187184" cy="187184"/>
              </a:xfrm>
              <a:prstGeom prst="rect">
                <a:avLst/>
              </a:prstGeom>
              <a:solidFill>
                <a:srgbClr val="C627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C1A38E-3746-C101-25BC-4DC2F2CC7D8B}"/>
                  </a:ext>
                </a:extLst>
              </p:cNvPr>
              <p:cNvSpPr/>
              <p:nvPr userDrawn="1"/>
            </p:nvSpPr>
            <p:spPr bwMode="gray">
              <a:xfrm>
                <a:off x="12529603" y="2872314"/>
                <a:ext cx="187184" cy="187184"/>
              </a:xfrm>
              <a:prstGeom prst="rect">
                <a:avLst/>
              </a:prstGeom>
              <a:solidFill>
                <a:srgbClr val="E99E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0FB8B51-204B-21C1-6B54-F2F524975BB5}"/>
                  </a:ext>
                </a:extLst>
              </p:cNvPr>
              <p:cNvSpPr/>
              <p:nvPr userDrawn="1"/>
            </p:nvSpPr>
            <p:spPr bwMode="gray">
              <a:xfrm>
                <a:off x="12751123" y="2872314"/>
                <a:ext cx="187184" cy="187184"/>
              </a:xfrm>
              <a:prstGeom prst="rect">
                <a:avLst/>
              </a:prstGeom>
              <a:solidFill>
                <a:srgbClr val="DB6C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83A1F5D-8321-3B99-3AB1-9D7F6C5C3CE7}"/>
                  </a:ext>
                </a:extLst>
              </p:cNvPr>
              <p:cNvSpPr/>
              <p:nvPr userDrawn="1"/>
            </p:nvSpPr>
            <p:spPr bwMode="gray">
              <a:xfrm>
                <a:off x="12972643" y="2872314"/>
                <a:ext cx="187184" cy="187184"/>
              </a:xfrm>
              <a:prstGeom prst="rect">
                <a:avLst/>
              </a:prstGeom>
              <a:solidFill>
                <a:srgbClr val="F5CE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B808209-9C0A-DED4-F99D-563E57934075}"/>
                </a:ext>
              </a:extLst>
            </p:cNvPr>
            <p:cNvSpPr/>
            <p:nvPr userDrawn="1"/>
          </p:nvSpPr>
          <p:spPr bwMode="gray">
            <a:xfrm>
              <a:off x="12308083" y="3549006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28AFC82-17B1-F422-B038-FD32BCA7612D}"/>
                </a:ext>
              </a:extLst>
            </p:cNvPr>
            <p:cNvSpPr txBox="1"/>
            <p:nvPr userDrawn="1"/>
          </p:nvSpPr>
          <p:spPr>
            <a:xfrm>
              <a:off x="12529603" y="3550265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latin typeface="+mj-lt"/>
                </a:rPr>
                <a:t>5% Charcoal</a:t>
              </a:r>
              <a:endParaRPr lang="en-US" sz="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58C9DF5-996C-1AE8-94E2-51D752085FF3}"/>
                </a:ext>
              </a:extLst>
            </p:cNvPr>
            <p:cNvSpPr/>
            <p:nvPr userDrawn="1"/>
          </p:nvSpPr>
          <p:spPr bwMode="gray">
            <a:xfrm>
              <a:off x="12308083" y="3323442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476FE1F-1A3D-9826-393D-2735CFF58996}"/>
                </a:ext>
              </a:extLst>
            </p:cNvPr>
            <p:cNvSpPr txBox="1"/>
            <p:nvPr userDrawn="1"/>
          </p:nvSpPr>
          <p:spPr>
            <a:xfrm>
              <a:off x="12529603" y="3324701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solidFill>
                    <a:schemeClr val="tx1"/>
                  </a:solidFill>
                  <a:latin typeface="+mj-lt"/>
                </a:rPr>
                <a:t>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20" r:id="rId5"/>
    <p:sldLayoutId id="2147484321" r:id="rId6"/>
    <p:sldLayoutId id="2147484323" r:id="rId7"/>
    <p:sldLayoutId id="2147484324" r:id="rId8"/>
    <p:sldLayoutId id="2147484325" r:id="rId9"/>
    <p:sldLayoutId id="2147484291" r:id="rId10"/>
    <p:sldLayoutId id="2147484240" r:id="rId11"/>
    <p:sldLayoutId id="2147484241" r:id="rId12"/>
    <p:sldLayoutId id="2147484242" r:id="rId13"/>
    <p:sldLayoutId id="2147484243" r:id="rId14"/>
    <p:sldLayoutId id="2147484244" r:id="rId15"/>
    <p:sldLayoutId id="2147484245" r:id="rId16"/>
    <p:sldLayoutId id="2147484246" r:id="rId17"/>
    <p:sldLayoutId id="2147484247" r:id="rId18"/>
    <p:sldLayoutId id="2147484248" r:id="rId19"/>
    <p:sldLayoutId id="2147484249" r:id="rId20"/>
    <p:sldLayoutId id="2147484250" r:id="rId21"/>
    <p:sldLayoutId id="2147484345" r:id="rId22"/>
    <p:sldLayoutId id="2147484348" r:id="rId23"/>
    <p:sldLayoutId id="2147484350" r:id="rId24"/>
    <p:sldLayoutId id="2147484353" r:id="rId25"/>
    <p:sldLayoutId id="2147484294" r:id="rId26"/>
    <p:sldLayoutId id="2147484295" r:id="rId27"/>
    <p:sldLayoutId id="2147484300" r:id="rId28"/>
    <p:sldLayoutId id="2147484299" r:id="rId29"/>
    <p:sldLayoutId id="2147484304" r:id="rId30"/>
    <p:sldLayoutId id="2147484309" r:id="rId31"/>
    <p:sldLayoutId id="2147484313" r:id="rId32"/>
    <p:sldLayoutId id="2147484314" r:id="rId33"/>
    <p:sldLayoutId id="2147484339" r:id="rId34"/>
    <p:sldLayoutId id="214748434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Beyond the GLP-1 hype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Obesity 2.0:</a:t>
            </a:r>
          </a:p>
          <a:p>
            <a:r>
              <a:t>The $200 Billion Opportunity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EVIDENCE BRIEFING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24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8DBE91A-D266-184A-66B8-0CB2FC151D8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43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BE91A-D266-184A-66B8-0CB2FC151D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3AA8-FE9C-4594-AE6D-4DABC73B4A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 lang="en-US">
                <a:latin typeface="Noto Sans"/>
              </a:rPr>
              <a:t>Revised obesity-sales forecasts cluster near $100–105B by 2030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64594-7E85-4B72-A9C3-6CBBF7E5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 lang="en-US">
                <a:latin typeface="Noto Sans"/>
              </a:rPr>
              <a:t>Underappreciated opportunity; $200B remains a bull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A93B-6FCA-4C73-85A7-B6C46A53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latin typeface="Noto Sans"/>
              </a:rPr>
              <a:t>Sources in speaker notes  |  As of 24 Aug 2026  |  1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379476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5200" b="1" i="0">
                <a:solidFill>
                  <a:srgbClr val="005587"/>
                </a:solidFill>
                <a:latin typeface="Noto Sans"/>
              </a:rPr>
              <a:t>$100–105B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80360"/>
            <a:ext cx="361188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200" b="1" i="0">
                <a:solidFill>
                  <a:srgbClr val="00BFB3"/>
                </a:solidFill>
                <a:latin typeface="Noto Sans"/>
              </a:rPr>
              <a:t>2030 obesity-sales base case</a:t>
            </a:r>
            <a:endParaRPr sz="2200" b="1" i="0">
              <a:solidFill>
                <a:srgbClr val="00BFB3"/>
              </a:solidFill>
              <a:latin typeface="Noto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" y="3566160"/>
            <a:ext cx="352044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0" i="0">
                <a:solidFill>
                  <a:srgbClr val="253746"/>
                </a:solidFill>
                <a:latin typeface="Noto Sans"/>
              </a:rPr>
              <a:t>$200B is a broader incretin bull case—not </a:t>
            </a:r>
            <a:r>
              <a:rPr sz="1700" b="0" i="0">
                <a:solidFill>
                  <a:srgbClr val="253746"/>
                </a:solidFill>
                <a:latin typeface="Noto Sans"/>
              </a:rPr>
              <a:t>the </a:t>
            </a:r>
            <a:r>
              <a:rPr lang="en-IN" sz="1700" b="0" i="0">
                <a:solidFill>
                  <a:srgbClr val="253746"/>
                </a:solidFill>
                <a:latin typeface="Noto Sans"/>
              </a:rPr>
              <a:t>current obesity-only </a:t>
            </a:r>
            <a:r>
              <a:rPr sz="1700" b="0" i="0">
                <a:solidFill>
                  <a:srgbClr val="253746"/>
                </a:solidFill>
                <a:latin typeface="Noto Sans"/>
              </a:rPr>
              <a:t>consensus.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15968" y="1874519"/>
            <a:ext cx="0" cy="3931921"/>
          </a:xfrm>
          <a:prstGeom prst="line">
            <a:avLst/>
          </a:prstGeom>
          <a:ln w="25400">
            <a:solidFill>
              <a:srgbClr val="00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45152" y="1874519"/>
            <a:ext cx="1938528" cy="4297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01  STRUCTURAL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1856231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53746"/>
                </a:solidFill>
                <a:latin typeface="Noto Sans"/>
              </a:rPr>
              <a:t>1B+ people live with obesity; recognition is shifting toward chronic disease.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45152" y="2523744"/>
            <a:ext cx="6830568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45152" y="273405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02  FIRST WAVE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715768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53746"/>
                </a:solidFill>
                <a:latin typeface="Noto Sans"/>
              </a:rPr>
              <a:t>Wegovy/Ozempic and Zepbound/Mounjaro prove demand; oral and multi-agonist options broaden the funnel.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45152" y="3383279"/>
            <a:ext cx="6830568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45152" y="3593591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03  WINNING 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575303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53746"/>
                </a:solidFill>
                <a:latin typeface="Noto Sans"/>
              </a:rPr>
              <a:t>Efficacy becomes table stakes; convenience, affordability, capacity and ecosystem reach decide share.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45152" y="4242816"/>
            <a:ext cx="6830568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45152" y="4453127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04  SYSTEM REDESIGN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434840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53746"/>
                </a:solidFill>
                <a:latin typeface="Noto Sans"/>
              </a:rPr>
              <a:t>Payers and providers must move from episodic weight loss to outcomes-linked chronic care.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5468112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1">
                <a:solidFill>
                  <a:srgbClr val="130C55"/>
                </a:solidFill>
                <a:latin typeface="Noto Sans"/>
              </a:rPr>
              <a:t>“Potentially the largest therapeutic category since statins.”</a:t>
            </a:r>
          </a:p>
        </p:txBody>
      </p:sp>
    </p:spTree>
    <p:extLst>
      <p:ext uri="{BB962C8B-B14F-4D97-AF65-F5344CB8AC3E}">
        <p14:creationId xmlns:p14="http://schemas.microsoft.com/office/powerpoint/2010/main" val="396739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E3D5A-047D-3ABE-6DD7-93CFF63A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5C70877-4DBE-805A-32B0-B31D7D3C5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C70877-4DBE-805A-32B0-B31D7D3C5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D4117-45C7-690B-C81F-EFBB5C83C6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>
                <a:latin typeface="Noto Sans"/>
              </a:rPr>
              <a:t>Near-term adoption is constrained; long-term disease economics remain structural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3F8009-1C4D-C109-5693-F41B4A10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 lang="en-IN">
                <a:latin typeface="Noto Sans"/>
              </a:rPr>
              <a:t>Overhyped near term, </a:t>
            </a:r>
            <a:r>
              <a:rPr>
                <a:latin typeface="Noto Sans"/>
              </a:rPr>
              <a:t>underappreciated </a:t>
            </a:r>
            <a:r>
              <a:rPr lang="en-IN">
                <a:latin typeface="Noto Sans"/>
              </a:rPr>
              <a:t>over</a:t>
            </a:r>
            <a:r>
              <a:rPr>
                <a:latin typeface="Noto Sans"/>
              </a:rPr>
              <a:t> the decade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1070-A7F7-A0F7-6DD0-8EAB233E0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>
                <a:latin typeface="Noto Sans"/>
              </a:rPr>
              <a:t>Sources in speaker notes  |  As of 24 Aug 2026  |  2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B77A0-F3BC-02A2-2413-994CD4AB6B97}"/>
              </a:ext>
            </a:extLst>
          </p:cNvPr>
          <p:cNvSpPr txBox="1"/>
          <p:nvPr/>
        </p:nvSpPr>
        <p:spPr>
          <a:xfrm>
            <a:off x="777240" y="6141720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400" b="1" i="0">
                <a:solidFill>
                  <a:srgbClr val="000000"/>
                </a:solidFill>
                <a:latin typeface="Noto Sans"/>
              </a:rPr>
              <a:t>HYPE  →  CONSTRAINT  →  STRUCTURAL SCALE</a:t>
            </a:r>
          </a:p>
        </p:txBody>
      </p:sp>
      <p:sp>
        <p:nvSpPr>
          <p:cNvPr id="13" name="Adoption curve">
            <a:extLst>
              <a:ext uri="{FF2B5EF4-FFF2-40B4-BE49-F238E27FC236}">
                <a16:creationId xmlns:a16="http://schemas.microsoft.com/office/drawing/2014/main" id="{1697D88C-864B-ADCD-0D03-43736BC5E3FD}"/>
              </a:ext>
            </a:extLst>
          </p:cNvPr>
          <p:cNvSpPr/>
          <p:nvPr/>
        </p:nvSpPr>
        <p:spPr>
          <a:xfrm>
            <a:off x="1143000" y="2359152"/>
            <a:ext cx="5852160" cy="2688336"/>
          </a:xfrm>
          <a:custGeom>
            <a:avLst/>
            <a:gdLst/>
            <a:ahLst/>
            <a:cxnLst/>
            <a:rect l="0" t="0" r="r" b="b"/>
            <a:pathLst>
              <a:path w="5852160" h="2688336">
                <a:moveTo>
                  <a:pt x="0" y="2688336"/>
                </a:moveTo>
                <a:cubicBezTo>
                  <a:pt x="228600" y="2327148"/>
                  <a:pt x="929640" y="608076"/>
                  <a:pt x="1371600" y="521208"/>
                </a:cubicBezTo>
                <a:cubicBezTo>
                  <a:pt x="1813560" y="434340"/>
                  <a:pt x="2194560" y="1999488"/>
                  <a:pt x="2651760" y="2167128"/>
                </a:cubicBezTo>
                <a:cubicBezTo>
                  <a:pt x="3108960" y="2334768"/>
                  <a:pt x="3581400" y="1888236"/>
                  <a:pt x="4114800" y="1527048"/>
                </a:cubicBezTo>
                <a:cubicBezTo>
                  <a:pt x="4648200" y="1165860"/>
                  <a:pt x="5562600" y="254508"/>
                  <a:pt x="5852160" y="0"/>
                </a:cubicBezTo>
              </a:path>
            </a:pathLst>
          </a:custGeom>
          <a:noFill/>
          <a:ln w="50800" cap="rnd">
            <a:solidFill>
              <a:srgbClr val="4CA9D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D5C4B6-3204-AD57-E56C-404885CF2010}"/>
              </a:ext>
            </a:extLst>
          </p:cNvPr>
          <p:cNvSpPr/>
          <p:nvPr/>
        </p:nvSpPr>
        <p:spPr>
          <a:xfrm>
            <a:off x="978408" y="4882896"/>
            <a:ext cx="329184" cy="329184"/>
          </a:xfrm>
          <a:prstGeom prst="ellipse">
            <a:avLst/>
          </a:prstGeom>
          <a:solidFill>
            <a:srgbClr val="6F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A95462-329A-1352-4358-99EC61E6BC8D}"/>
              </a:ext>
            </a:extLst>
          </p:cNvPr>
          <p:cNvSpPr/>
          <p:nvPr/>
        </p:nvSpPr>
        <p:spPr>
          <a:xfrm>
            <a:off x="2350007" y="2715768"/>
            <a:ext cx="329184" cy="329184"/>
          </a:xfrm>
          <a:prstGeom prst="ellipse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629A88-83B5-9593-7D4E-3941B8B9B3EC}"/>
              </a:ext>
            </a:extLst>
          </p:cNvPr>
          <p:cNvSpPr/>
          <p:nvPr/>
        </p:nvSpPr>
        <p:spPr>
          <a:xfrm>
            <a:off x="3630168" y="4361688"/>
            <a:ext cx="329184" cy="329184"/>
          </a:xfrm>
          <a:prstGeom prst="ellipse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85E57D-A862-D8E9-6738-39D2BEBE4543}"/>
              </a:ext>
            </a:extLst>
          </p:cNvPr>
          <p:cNvSpPr/>
          <p:nvPr/>
        </p:nvSpPr>
        <p:spPr>
          <a:xfrm>
            <a:off x="5093208" y="3721608"/>
            <a:ext cx="329184" cy="329184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CB23D9-AE85-1BAC-FF27-CE6D1A24F405}"/>
              </a:ext>
            </a:extLst>
          </p:cNvPr>
          <p:cNvSpPr/>
          <p:nvPr/>
        </p:nvSpPr>
        <p:spPr>
          <a:xfrm>
            <a:off x="6830568" y="2194560"/>
            <a:ext cx="329184" cy="329184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DE5DE3-44F1-0B21-02E0-B1E91DE13ED7}"/>
              </a:ext>
            </a:extLst>
          </p:cNvPr>
          <p:cNvSpPr txBox="1"/>
          <p:nvPr/>
        </p:nvSpPr>
        <p:spPr>
          <a:xfrm>
            <a:off x="502920" y="5321808"/>
            <a:ext cx="128016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53746"/>
                </a:solidFill>
                <a:latin typeface="Noto Sans"/>
              </a:rPr>
              <a:t>Clinical breakthrough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7A12C-15F8-B52B-DFC8-47BE3A786325}"/>
              </a:ext>
            </a:extLst>
          </p:cNvPr>
          <p:cNvSpPr txBox="1"/>
          <p:nvPr/>
        </p:nvSpPr>
        <p:spPr>
          <a:xfrm>
            <a:off x="502920" y="58521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F7C83"/>
                </a:solidFill>
                <a:latin typeface="Noto Sans"/>
              </a:rPr>
              <a:t>2021–24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21FB15-3EB3-B4B5-4D0E-2444666E2B84}"/>
              </a:ext>
            </a:extLst>
          </p:cNvPr>
          <p:cNvSpPr txBox="1"/>
          <p:nvPr/>
        </p:nvSpPr>
        <p:spPr>
          <a:xfrm>
            <a:off x="1828800" y="1931168"/>
            <a:ext cx="13716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253746"/>
                </a:solidFill>
                <a:latin typeface="Noto Sans"/>
              </a:rPr>
              <a:t>Expectation peak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AFB7AB-69F8-3AC4-E709-634D8AE259C2}"/>
              </a:ext>
            </a:extLst>
          </p:cNvPr>
          <p:cNvSpPr txBox="1"/>
          <p:nvPr/>
        </p:nvSpPr>
        <p:spPr>
          <a:xfrm>
            <a:off x="1805940" y="24615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F7C83"/>
                </a:solidFill>
                <a:latin typeface="Noto Sans"/>
              </a:rPr>
              <a:t>2024–26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235550-EECF-920D-92A6-88260E14BD0F}"/>
              </a:ext>
            </a:extLst>
          </p:cNvPr>
          <p:cNvSpPr txBox="1"/>
          <p:nvPr/>
        </p:nvSpPr>
        <p:spPr>
          <a:xfrm>
            <a:off x="2994660" y="4800600"/>
            <a:ext cx="16002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53746"/>
                </a:solidFill>
                <a:latin typeface="Noto Sans"/>
              </a:rPr>
              <a:t>Access trough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F2A854-85C9-C3A4-CFCE-5B6ED60A2C32}"/>
              </a:ext>
            </a:extLst>
          </p:cNvPr>
          <p:cNvSpPr txBox="1"/>
          <p:nvPr/>
        </p:nvSpPr>
        <p:spPr>
          <a:xfrm>
            <a:off x="3086100" y="51114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F7C83"/>
                </a:solidFill>
                <a:latin typeface="Noto Sans"/>
              </a:rPr>
              <a:t>2026–28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3A3255-0B95-8C37-1176-206F5AE52150}"/>
              </a:ext>
            </a:extLst>
          </p:cNvPr>
          <p:cNvSpPr txBox="1"/>
          <p:nvPr/>
        </p:nvSpPr>
        <p:spPr>
          <a:xfrm>
            <a:off x="4436680" y="2958028"/>
            <a:ext cx="1600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253746"/>
                </a:solidFill>
                <a:latin typeface="Noto Sans"/>
              </a:rPr>
              <a:t>Oral + outcomes reset</a:t>
            </a:r>
            <a:endParaRPr lang="en-IN" sz="1400" b="1" i="0" dirty="0">
              <a:solidFill>
                <a:srgbClr val="253746"/>
              </a:solidFill>
              <a:latin typeface="Noto San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2F983D-29FA-2F5F-B444-45C3B954D7F4}"/>
              </a:ext>
            </a:extLst>
          </p:cNvPr>
          <p:cNvSpPr txBox="1"/>
          <p:nvPr/>
        </p:nvSpPr>
        <p:spPr>
          <a:xfrm>
            <a:off x="4454550" y="3477870"/>
            <a:ext cx="14173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6F7C83"/>
                </a:solidFill>
                <a:latin typeface="Noto Sans"/>
              </a:rPr>
              <a:t>2027–30</a:t>
            </a:r>
            <a:endParaRPr lang="en-IN" sz="1200" b="0" i="0" dirty="0">
              <a:solidFill>
                <a:srgbClr val="6F7C83"/>
              </a:solidFill>
              <a:latin typeface="Noto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E5442E-960A-BE03-B290-9F34B7EC1BBF}"/>
              </a:ext>
            </a:extLst>
          </p:cNvPr>
          <p:cNvSpPr txBox="1"/>
          <p:nvPr/>
        </p:nvSpPr>
        <p:spPr>
          <a:xfrm>
            <a:off x="6126480" y="1639926"/>
            <a:ext cx="1737360" cy="26517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400" b="1" i="0">
                <a:solidFill>
                  <a:srgbClr val="253746"/>
                </a:solidFill>
                <a:latin typeface="Noto Sans"/>
              </a:rPr>
              <a:t>Chronic-care scale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F9082A-A866-D7A1-4FB3-5F1EBAD5EFFE}"/>
              </a:ext>
            </a:extLst>
          </p:cNvPr>
          <p:cNvSpPr txBox="1"/>
          <p:nvPr/>
        </p:nvSpPr>
        <p:spPr>
          <a:xfrm>
            <a:off x="6286500" y="195082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F7C83"/>
                </a:solidFill>
                <a:latin typeface="Noto Sans"/>
              </a:rPr>
              <a:t>2030+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538239CB-F9A6-C08C-02C1-A69006B81B9C}"/>
              </a:ext>
            </a:extLst>
          </p:cNvPr>
          <p:cNvCxnSpPr/>
          <p:nvPr/>
        </p:nvCxnSpPr>
        <p:spPr>
          <a:xfrm>
            <a:off x="7882127" y="1901952"/>
            <a:ext cx="0" cy="3968496"/>
          </a:xfrm>
          <a:prstGeom prst="line">
            <a:avLst/>
          </a:prstGeom>
          <a:ln w="1524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A86D818-9E9C-470E-8E39-EB8A448A8BC8}"/>
              </a:ext>
            </a:extLst>
          </p:cNvPr>
          <p:cNvSpPr txBox="1"/>
          <p:nvPr/>
        </p:nvSpPr>
        <p:spPr>
          <a:xfrm>
            <a:off x="8183879" y="18470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BFB3"/>
                </a:solidFill>
                <a:latin typeface="Noto Sans"/>
              </a:rPr>
              <a:t>BULL CASE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A7ADCD8-3EC9-EC39-3741-1422FC1C9AEB}"/>
              </a:ext>
            </a:extLst>
          </p:cNvPr>
          <p:cNvSpPr/>
          <p:nvPr/>
        </p:nvSpPr>
        <p:spPr>
          <a:xfrm>
            <a:off x="8193024" y="2331720"/>
            <a:ext cx="109728" cy="109728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5430A9-3CB5-210A-97CA-3F9F0E4563AD}"/>
              </a:ext>
            </a:extLst>
          </p:cNvPr>
          <p:cNvSpPr txBox="1"/>
          <p:nvPr/>
        </p:nvSpPr>
        <p:spPr>
          <a:xfrm>
            <a:off x="8412479" y="224028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1B+ global burden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7ABCE8-483D-EFF4-EA8B-7CBEB23F4F7F}"/>
              </a:ext>
            </a:extLst>
          </p:cNvPr>
          <p:cNvSpPr/>
          <p:nvPr/>
        </p:nvSpPr>
        <p:spPr>
          <a:xfrm>
            <a:off x="8193024" y="2770632"/>
            <a:ext cx="109728" cy="109728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6F7666-1765-5A9D-6D08-2843182576DC}"/>
              </a:ext>
            </a:extLst>
          </p:cNvPr>
          <p:cNvSpPr txBox="1"/>
          <p:nvPr/>
        </p:nvSpPr>
        <p:spPr>
          <a:xfrm>
            <a:off x="8412479" y="2679192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Comorbidity benefits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867F856-E266-30FC-979F-96CA65755E1A}"/>
              </a:ext>
            </a:extLst>
          </p:cNvPr>
          <p:cNvSpPr/>
          <p:nvPr/>
        </p:nvSpPr>
        <p:spPr>
          <a:xfrm>
            <a:off x="8193024" y="3209544"/>
            <a:ext cx="109728" cy="109728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209169-70C7-1564-3573-743CFC914BA5}"/>
              </a:ext>
            </a:extLst>
          </p:cNvPr>
          <p:cNvSpPr txBox="1"/>
          <p:nvPr/>
        </p:nvSpPr>
        <p:spPr>
          <a:xfrm>
            <a:off x="8412479" y="3118104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Eligibility expansion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1C2AD1B-9572-7078-FB82-A47C163187E3}"/>
              </a:ext>
            </a:extLst>
          </p:cNvPr>
          <p:cNvSpPr/>
          <p:nvPr/>
        </p:nvSpPr>
        <p:spPr>
          <a:xfrm>
            <a:off x="8193024" y="3648456"/>
            <a:ext cx="109728" cy="109728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D68491-8486-D1F7-0288-DE7F111BB83C}"/>
              </a:ext>
            </a:extLst>
          </p:cNvPr>
          <p:cNvSpPr txBox="1"/>
          <p:nvPr/>
        </p:nvSpPr>
        <p:spPr>
          <a:xfrm>
            <a:off x="8412479" y="355701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Social acceptance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9CA8DD-C569-DB4F-3692-E0FA56FAECB2}"/>
              </a:ext>
            </a:extLst>
          </p:cNvPr>
          <p:cNvSpPr txBox="1"/>
          <p:nvPr/>
        </p:nvSpPr>
        <p:spPr>
          <a:xfrm>
            <a:off x="8183879" y="409651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A291C"/>
                </a:solidFill>
                <a:latin typeface="Noto Sans"/>
              </a:rPr>
              <a:t>BEAR CASE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041ED68-F54D-B329-F6AA-5A49878FD4AE}"/>
              </a:ext>
            </a:extLst>
          </p:cNvPr>
          <p:cNvSpPr/>
          <p:nvPr/>
        </p:nvSpPr>
        <p:spPr>
          <a:xfrm>
            <a:off x="8193024" y="4581144"/>
            <a:ext cx="109728" cy="109728"/>
          </a:xfrm>
          <a:prstGeom prst="ellipse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3A39F5-3BD3-2EA8-6C50-732D465D519B}"/>
              </a:ext>
            </a:extLst>
          </p:cNvPr>
          <p:cNvSpPr txBox="1"/>
          <p:nvPr/>
        </p:nvSpPr>
        <p:spPr>
          <a:xfrm>
            <a:off x="8412479" y="4489704"/>
            <a:ext cx="33375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Coverage restrictions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8A0E5B-EE1A-9256-85E9-2FC0EECCC77F}"/>
              </a:ext>
            </a:extLst>
          </p:cNvPr>
          <p:cNvSpPr/>
          <p:nvPr/>
        </p:nvSpPr>
        <p:spPr>
          <a:xfrm>
            <a:off x="8193024" y="4937759"/>
            <a:ext cx="109728" cy="109728"/>
          </a:xfrm>
          <a:prstGeom prst="ellipse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0C11D9-7208-234D-A48D-292BA9D9CD74}"/>
              </a:ext>
            </a:extLst>
          </p:cNvPr>
          <p:cNvSpPr txBox="1"/>
          <p:nvPr/>
        </p:nvSpPr>
        <p:spPr>
          <a:xfrm>
            <a:off x="8412479" y="4846320"/>
            <a:ext cx="33375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Real-world discontinuation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8F18DED-28E0-82C5-166E-9C86023DE50B}"/>
              </a:ext>
            </a:extLst>
          </p:cNvPr>
          <p:cNvSpPr/>
          <p:nvPr/>
        </p:nvSpPr>
        <p:spPr>
          <a:xfrm>
            <a:off x="8193024" y="5294376"/>
            <a:ext cx="109728" cy="109728"/>
          </a:xfrm>
          <a:prstGeom prst="ellipse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5E3627-C848-9156-029D-D41866D829A7}"/>
              </a:ext>
            </a:extLst>
          </p:cNvPr>
          <p:cNvSpPr txBox="1"/>
          <p:nvPr/>
        </p:nvSpPr>
        <p:spPr>
          <a:xfrm>
            <a:off x="8412479" y="5202936"/>
            <a:ext cx="33375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Long-term adherence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5C8AF30-DF66-EA39-580E-49B32DF32ED5}"/>
              </a:ext>
            </a:extLst>
          </p:cNvPr>
          <p:cNvSpPr/>
          <p:nvPr/>
        </p:nvSpPr>
        <p:spPr>
          <a:xfrm>
            <a:off x="8193024" y="5650992"/>
            <a:ext cx="109728" cy="109728"/>
          </a:xfrm>
          <a:prstGeom prst="ellipse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2AECA2-E985-8CB4-8BBB-904303BDB8E0}"/>
              </a:ext>
            </a:extLst>
          </p:cNvPr>
          <p:cNvSpPr txBox="1"/>
          <p:nvPr/>
        </p:nvSpPr>
        <p:spPr>
          <a:xfrm>
            <a:off x="8412479" y="5559552"/>
            <a:ext cx="33375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Budget impact</a:t>
            </a:r>
          </a:p>
        </p:txBody>
      </p:sp>
    </p:spTree>
    <p:extLst>
      <p:ext uri="{BB962C8B-B14F-4D97-AF65-F5344CB8AC3E}">
        <p14:creationId xmlns:p14="http://schemas.microsoft.com/office/powerpoint/2010/main" val="424663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8DBE91A-D266-184A-66B8-0CB2FC151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3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BE91A-D266-184A-66B8-0CB2FC151D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3AA8-FE9C-4594-AE6D-4DABC73B4A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 lang="en-US">
                <a:latin typeface="Noto Sans"/>
              </a:rPr>
              <a:t>Obesity-only views cluster near $100–105B; broader incretin scenarios can reach $200B</a:t>
            </a:r>
            <a:endParaRPr>
              <a:latin typeface="Noto San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64594-7E85-4B72-A9C3-6CBBF7E5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 lang="en-US">
                <a:latin typeface="Noto Sans"/>
              </a:rPr>
              <a:t>2030 forecasts differ because market definitions differ</a:t>
            </a:r>
            <a:endParaRPr>
              <a:latin typeface="Noto Sa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A93B-6FCA-4C73-85A7-B6C46A53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>
                <a:latin typeface="Noto Sans"/>
              </a:rPr>
              <a:t>Sources in speaker notes  |  As of 24 Aug 2026  |  3</a:t>
            </a:r>
            <a:endParaRPr lang="en-US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2920" y="1984248"/>
          <a:ext cx="672084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0352" y="5532120"/>
            <a:ext cx="6629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F7C83"/>
                </a:solidFill>
                <a:latin typeface="Noto Sans"/>
              </a:rPr>
              <a:t>*Illustrative</a:t>
            </a:r>
            <a:r>
              <a:rPr lang="en-US" sz="1200" b="0" i="1">
                <a:solidFill>
                  <a:srgbClr val="6F7C83"/>
                </a:solidFill>
                <a:latin typeface="Noto Sans"/>
              </a:rPr>
              <a:t>: obesity-only, incretin and all-GLP-1 forecasts are not directly comparable</a:t>
            </a:r>
            <a:r>
              <a:rPr sz="1200" b="0" i="1">
                <a:solidFill>
                  <a:srgbClr val="6F7C83"/>
                </a:solidFill>
                <a:latin typeface="Noto Sans"/>
              </a:rPr>
              <a:t>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1920240"/>
            <a:ext cx="0" cy="3886200"/>
          </a:xfrm>
          <a:prstGeom prst="line">
            <a:avLst/>
          </a:prstGeom>
          <a:ln w="1524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26679" y="1993392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05587"/>
                </a:solidFill>
                <a:latin typeface="Noto Sans"/>
              </a:rPr>
              <a:t>1.3B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0116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eligible population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26679" y="2697480"/>
            <a:ext cx="3657601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26679" y="2926080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05587"/>
                </a:solidFill>
                <a:latin typeface="Noto Sans"/>
              </a:rPr>
              <a:t>~1–3%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9443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current adoption
(outside U.S. / U.S.)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26679" y="3630168"/>
            <a:ext cx="3657601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858768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05587"/>
                </a:solidFill>
                <a:latin typeface="Noto Sans"/>
              </a:rPr>
              <a:t>11%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877056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peak treated share
in $150B case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4562856"/>
            <a:ext cx="3657601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26679" y="4791456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05587"/>
                </a:solidFill>
                <a:latin typeface="Noto Sans"/>
              </a:rPr>
              <a:t>$50B+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809744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capacity investment
through 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5595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BFB3"/>
                </a:solidFill>
                <a:latin typeface="Noto Sans"/>
              </a:rPr>
              <a:t>Value migrates to CV • OSA • diabetes • CKD • MASH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8DBE91A-D266-184A-66B8-0CB2FC151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3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BE91A-D266-184A-66B8-0CB2FC151D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3AA8-FE9C-4594-AE6D-4DABC73B4A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>
                <a:latin typeface="Noto Sans"/>
              </a:rPr>
              <a:t>Oral delivery, multi-agonism, tolerability, muscle preservation and precision define the next wave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64594-7E85-4B72-A9C3-6CBBF7E5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>
                <a:latin typeface="Noto Sans"/>
              </a:rPr>
              <a:t>After GLP-1, differentiation moves beyond efficacy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A93B-6FCA-4C73-85A7-B6C46A53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>
                <a:latin typeface="Noto Sans"/>
              </a:rPr>
              <a:t>Sources in speaker notes  |  As of 24 Aug 2026  |  4</a:t>
            </a:r>
            <a:endParaRPr lang="en-US"/>
          </a:p>
        </p:txBody>
      </p:sp>
      <p:cxnSp>
        <p:nvCxnSpPr>
          <p:cNvPr id="12" name="Connector 11"/>
          <p:cNvCxnSpPr/>
          <p:nvPr/>
        </p:nvCxnSpPr>
        <p:spPr>
          <a:xfrm>
            <a:off x="685800" y="3931920"/>
            <a:ext cx="10607040" cy="0"/>
          </a:xfrm>
          <a:prstGeom prst="line">
            <a:avLst/>
          </a:prstGeom>
          <a:ln w="381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3730752"/>
            <a:ext cx="411480" cy="41148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33672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05587"/>
                </a:solidFill>
                <a:latin typeface="Noto Sans"/>
              </a:rPr>
              <a:t>2025</a:t>
            </a:r>
          </a:p>
        </p:txBody>
      </p:sp>
      <p:sp>
        <p:nvSpPr>
          <p:cNvPr id="15" name="Oval 14"/>
          <p:cNvSpPr/>
          <p:nvPr/>
        </p:nvSpPr>
        <p:spPr>
          <a:xfrm>
            <a:off x="3429000" y="3730752"/>
            <a:ext cx="411480" cy="41148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4233672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05587"/>
                </a:solidFill>
                <a:latin typeface="Noto Sans"/>
              </a:rPr>
              <a:t>2027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3730752"/>
            <a:ext cx="411480" cy="41148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233672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05587"/>
                </a:solidFill>
                <a:latin typeface="Noto Sans"/>
              </a:rPr>
              <a:t>2030</a:t>
            </a:r>
          </a:p>
        </p:txBody>
      </p:sp>
      <p:sp>
        <p:nvSpPr>
          <p:cNvPr id="19" name="Oval 18"/>
          <p:cNvSpPr/>
          <p:nvPr/>
        </p:nvSpPr>
        <p:spPr>
          <a:xfrm>
            <a:off x="10195560" y="3730752"/>
            <a:ext cx="411480" cy="41148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4233672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05587"/>
                </a:solidFill>
                <a:latin typeface="Noto Sans"/>
              </a:rPr>
              <a:t>2035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93852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2423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53746"/>
                </a:solidFill>
                <a:latin typeface="Noto Sans"/>
              </a:rPr>
              <a:t>Oral semaglutide
Orforglipron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08152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F7C83"/>
                </a:solidFill>
                <a:latin typeface="Noto Sans"/>
              </a:rPr>
              <a:t>Approved U.S. options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3611880"/>
            <a:ext cx="2286000" cy="0"/>
          </a:xfrm>
          <a:prstGeom prst="line">
            <a:avLst/>
          </a:prstGeom>
          <a:ln w="50800">
            <a:solidFill>
              <a:srgbClr val="00B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54680" y="193852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POTENCY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2322576"/>
            <a:ext cx="2926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53746"/>
                </a:solidFill>
                <a:latin typeface="Noto Sans"/>
              </a:rPr>
              <a:t>Retatrutide • amycretin
CT-388 • VK2735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08152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F7C83"/>
                </a:solidFill>
                <a:latin typeface="Noto Sans"/>
              </a:rPr>
              <a:t>Dual / triple / amylin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54680" y="3611880"/>
            <a:ext cx="2788920" cy="0"/>
          </a:xfrm>
          <a:prstGeom prst="line">
            <a:avLst/>
          </a:prstGeom>
          <a:ln w="50800">
            <a:solidFill>
              <a:srgbClr val="00B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193852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322576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/>
          </a:bodyPr>
          <a:lstStyle/>
          <a:p>
            <a:pPr algn="l"/>
            <a:r>
              <a:rPr sz="1800" b="1" i="0">
                <a:solidFill>
                  <a:srgbClr val="253746"/>
                </a:solidFill>
                <a:latin typeface="Noto Sans"/>
              </a:rPr>
              <a:t>MariTide • combinations
Better tolerability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81528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F7C83"/>
                </a:solidFill>
                <a:latin typeface="Noto Sans"/>
              </a:rPr>
              <a:t>Monthly / muscle-sparing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9360" y="3611880"/>
            <a:ext cx="2560320" cy="0"/>
          </a:xfrm>
          <a:prstGeom prst="line">
            <a:avLst/>
          </a:prstGeom>
          <a:ln w="50800">
            <a:solidFill>
              <a:srgbClr val="00B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89720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322576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l"/>
            <a:r>
              <a:rPr sz="1800" b="1" i="0">
                <a:solidFill>
                  <a:srgbClr val="253746"/>
                </a:solidFill>
                <a:latin typeface="Noto Sans"/>
              </a:rPr>
              <a:t>Phenotype selection
Digital + drug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0815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F7C83"/>
                </a:solidFill>
                <a:latin typeface="Noto Sans"/>
              </a:rPr>
              <a:t>Ecosystem integration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9720" y="3611880"/>
            <a:ext cx="2011680" cy="0"/>
          </a:xfrm>
          <a:prstGeom prst="line">
            <a:avLst/>
          </a:prstGeom>
          <a:ln w="50800">
            <a:solidFill>
              <a:srgbClr val="00B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1792" y="4828032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6F7C83"/>
                </a:solidFill>
                <a:latin typeface="Noto Sans"/>
              </a:rPr>
              <a:t>COMPETITIVE BATTLE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7731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5587"/>
                </a:solidFill>
                <a:latin typeface="Noto Sans"/>
              </a:rPr>
              <a:t>Efficacy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138928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F7C83"/>
                </a:solidFill>
                <a:latin typeface="Noto Sans"/>
              </a:rPr>
              <a:t>2021–26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06824" y="478231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400" b="1" i="0">
                <a:solidFill>
                  <a:srgbClr val="6F7C83"/>
                </a:solidFill>
                <a:latin typeface="Noto Sans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47731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A9E0"/>
                </a:solidFill>
                <a:latin typeface="Noto Sans"/>
              </a:rPr>
              <a:t>Convenience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5138928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F7C83"/>
                </a:solidFill>
                <a:latin typeface="Noto Sans"/>
              </a:rPr>
              <a:t>2025–29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78231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400" b="1" i="0">
                <a:solidFill>
                  <a:srgbClr val="6F7C83"/>
                </a:solidFill>
                <a:latin typeface="Noto Sans"/>
              </a:rP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75704" y="47731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00BFB3"/>
                </a:solidFill>
                <a:latin typeface="Noto Sans"/>
              </a:rPr>
              <a:t>Quality of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5138928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F7C83"/>
                </a:solidFill>
                <a:latin typeface="Noto Sans"/>
              </a:rPr>
              <a:t>2027–32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67928" y="4782312"/>
            <a:ext cx="31089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2400" b="1" i="0">
                <a:solidFill>
                  <a:srgbClr val="6F7C83"/>
                </a:solidFill>
                <a:latin typeface="Noto Sans"/>
              </a:rP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6256" y="47731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30C55"/>
                </a:solidFill>
                <a:latin typeface="Noto Sans"/>
              </a:rPr>
              <a:t>Outcomes + economics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6256" y="5138928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F7C83"/>
                </a:solidFill>
                <a:latin typeface="Noto Sans"/>
              </a:rPr>
              <a:t>2030+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5669280"/>
            <a:ext cx="10561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30C55"/>
                </a:solidFill>
                <a:latin typeface="Noto Sans"/>
              </a:rPr>
              <a:t>Key insight  |  The next winners will optimize the treatment experience—not simply add another point of weight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8DBE91A-D266-184A-66B8-0CB2FC151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3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BE91A-D266-184A-66B8-0CB2FC151D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3AA8-FE9C-4594-AE6D-4DABC73B4A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 lang="en-US">
                <a:latin typeface="Noto Sans"/>
              </a:rPr>
              <a:t>The duopoly endures, while challengers compete for a meaningful remaining value pool</a:t>
            </a:r>
            <a:endParaRPr>
              <a:latin typeface="Noto San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64594-7E85-4B72-A9C3-6CBBF7E5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>
                <a:latin typeface="Noto Sans"/>
              </a:rPr>
              <a:t>Lilly and Novo </a:t>
            </a:r>
            <a:r>
              <a:rPr lang="en-US">
                <a:latin typeface="Noto Sans"/>
              </a:rPr>
              <a:t>may still control ~78% of </a:t>
            </a:r>
            <a:r>
              <a:rPr>
                <a:latin typeface="Noto Sans"/>
              </a:rPr>
              <a:t>the </a:t>
            </a:r>
            <a:r>
              <a:rPr lang="en-IN">
                <a:latin typeface="Noto Sans"/>
              </a:rPr>
              <a:t>market in </a:t>
            </a:r>
            <a:r>
              <a:rPr>
                <a:latin typeface="Noto Sans"/>
              </a:rPr>
              <a:t>2030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A93B-6FCA-4C73-85A7-B6C46A53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>
                <a:latin typeface="Noto Sans"/>
              </a:rPr>
              <a:t>Sources in speaker notes  |  As of 24 Aug 2026  |  5</a:t>
            </a:r>
            <a:endParaRPr lang="en-US"/>
          </a:p>
        </p:txBody>
      </p:sp>
      <p:cxnSp>
        <p:nvCxnSpPr>
          <p:cNvPr id="12" name="Connector 11"/>
          <p:cNvCxnSpPr/>
          <p:nvPr/>
        </p:nvCxnSpPr>
        <p:spPr>
          <a:xfrm>
            <a:off x="960120" y="5577840"/>
            <a:ext cx="7132320" cy="0"/>
          </a:xfrm>
          <a:prstGeom prst="line">
            <a:avLst/>
          </a:prstGeom>
          <a:ln w="19050">
            <a:solidFill>
              <a:srgbClr val="6F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0120" y="1993392"/>
            <a:ext cx="0" cy="3584448"/>
          </a:xfrm>
          <a:prstGeom prst="line">
            <a:avLst/>
          </a:prstGeom>
          <a:ln w="19050">
            <a:solidFill>
              <a:srgbClr val="6F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1993392"/>
            <a:ext cx="0" cy="3584448"/>
          </a:xfrm>
          <a:prstGeom prst="line">
            <a:avLst/>
          </a:prstGeom>
          <a:ln w="12700">
            <a:solidFill>
              <a:srgbClr val="E6EC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" y="3767328"/>
            <a:ext cx="7132320" cy="0"/>
          </a:xfrm>
          <a:prstGeom prst="line">
            <a:avLst/>
          </a:prstGeom>
          <a:ln w="12700">
            <a:solidFill>
              <a:srgbClr val="E6EC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80360" y="5687568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6F7C83"/>
                </a:solidFill>
                <a:latin typeface="Noto Sans"/>
              </a:rPr>
              <a:t>PORTFOLIO DIFFERENTIATION  →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438912" y="2788920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6F7C83"/>
                </a:solidFill>
                <a:latin typeface="Noto Sans"/>
              </a:rPr>
              <a:t>SCALE + REACH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1031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6F7C83"/>
                </a:solidFill>
                <a:latin typeface="Noto Sans"/>
              </a:rPr>
              <a:t>SCALED CHALLENGERS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1031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5587"/>
                </a:solidFill>
                <a:latin typeface="Noto Sans"/>
              </a:rPr>
              <a:t>FRONT-RUNNERS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9593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BFB3"/>
                </a:solidFill>
                <a:latin typeface="Noto Sans"/>
              </a:rPr>
              <a:t>INNOVATION OPTIONS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2487168"/>
            <a:ext cx="182880" cy="182880"/>
          </a:xfrm>
          <a:prstGeom prst="ellipse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31152" y="2414016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Eli Lilly</a:t>
            </a:r>
          </a:p>
        </p:txBody>
      </p:sp>
      <p:sp>
        <p:nvSpPr>
          <p:cNvPr id="23" name="Oval 22"/>
          <p:cNvSpPr/>
          <p:nvPr/>
        </p:nvSpPr>
        <p:spPr>
          <a:xfrm>
            <a:off x="5532120" y="2926080"/>
            <a:ext cx="182880" cy="18288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88152" y="285292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Novo Nordisk</a:t>
            </a:r>
          </a:p>
        </p:txBody>
      </p:sp>
      <p:sp>
        <p:nvSpPr>
          <p:cNvPr id="25" name="Oval 24"/>
          <p:cNvSpPr/>
          <p:nvPr/>
        </p:nvSpPr>
        <p:spPr>
          <a:xfrm>
            <a:off x="3767328" y="2624328"/>
            <a:ext cx="182880" cy="18288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2551176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Roche / Carmot</a:t>
            </a:r>
          </a:p>
        </p:txBody>
      </p:sp>
      <p:sp>
        <p:nvSpPr>
          <p:cNvPr id="27" name="Oval 26"/>
          <p:cNvSpPr/>
          <p:nvPr/>
        </p:nvSpPr>
        <p:spPr>
          <a:xfrm>
            <a:off x="3364992" y="3200400"/>
            <a:ext cx="182880" cy="182880"/>
          </a:xfrm>
          <a:prstGeom prst="ellipse">
            <a:avLst/>
          </a:prstGeom>
          <a:solidFill>
            <a:srgbClr val="130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21024" y="312724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Amgen</a:t>
            </a:r>
          </a:p>
        </p:txBody>
      </p:sp>
      <p:sp>
        <p:nvSpPr>
          <p:cNvPr id="29" name="Oval 28"/>
          <p:cNvSpPr/>
          <p:nvPr/>
        </p:nvSpPr>
        <p:spPr>
          <a:xfrm>
            <a:off x="1965960" y="2999232"/>
            <a:ext cx="182880" cy="182880"/>
          </a:xfrm>
          <a:prstGeom prst="ellipse">
            <a:avLst/>
          </a:prstGeom>
          <a:solidFill>
            <a:srgbClr val="4CA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21991" y="2926079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AstraZeneca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224528"/>
            <a:ext cx="182880" cy="18288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93992" y="4151376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Viking</a:t>
            </a:r>
          </a:p>
        </p:txBody>
      </p:sp>
      <p:sp>
        <p:nvSpPr>
          <p:cNvPr id="33" name="Oval 32"/>
          <p:cNvSpPr/>
          <p:nvPr/>
        </p:nvSpPr>
        <p:spPr>
          <a:xfrm>
            <a:off x="5532120" y="4681728"/>
            <a:ext cx="182880" cy="182880"/>
          </a:xfrm>
          <a:prstGeom prst="ellipse">
            <a:avLst/>
          </a:prstGeom>
          <a:solidFill>
            <a:srgbClr val="00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88152" y="4608576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Zealand</a:t>
            </a:r>
          </a:p>
        </p:txBody>
      </p:sp>
      <p:sp>
        <p:nvSpPr>
          <p:cNvPr id="35" name="Oval 34"/>
          <p:cNvSpPr/>
          <p:nvPr/>
        </p:nvSpPr>
        <p:spPr>
          <a:xfrm>
            <a:off x="4617720" y="5074920"/>
            <a:ext cx="182880" cy="182880"/>
          </a:xfrm>
          <a:prstGeom prst="ellipse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73752" y="5001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Structure</a:t>
            </a:r>
          </a:p>
        </p:txBody>
      </p:sp>
      <p:sp>
        <p:nvSpPr>
          <p:cNvPr id="37" name="Oval 36"/>
          <p:cNvSpPr/>
          <p:nvPr/>
        </p:nvSpPr>
        <p:spPr>
          <a:xfrm>
            <a:off x="3639312" y="4782312"/>
            <a:ext cx="182880" cy="182880"/>
          </a:xfrm>
          <a:prstGeom prst="ellipse">
            <a:avLst/>
          </a:prstGeom>
          <a:solidFill>
            <a:srgbClr val="B82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95344" y="470916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Altimmune</a:t>
            </a:r>
          </a:p>
        </p:txBody>
      </p:sp>
      <p:sp>
        <p:nvSpPr>
          <p:cNvPr id="39" name="Oval 38"/>
          <p:cNvSpPr/>
          <p:nvPr/>
        </p:nvSpPr>
        <p:spPr>
          <a:xfrm>
            <a:off x="1874519" y="5138928"/>
            <a:ext cx="182880" cy="182880"/>
          </a:xfrm>
          <a:prstGeom prst="ellipse">
            <a:avLst/>
          </a:prstGeom>
          <a:solidFill>
            <a:srgbClr val="6F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30552" y="5065776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53746"/>
                </a:solidFill>
                <a:latin typeface="Noto Sans"/>
              </a:rPr>
              <a:t>Other innovators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30768" y="1920240"/>
            <a:ext cx="0" cy="3886200"/>
          </a:xfrm>
          <a:prstGeom prst="line">
            <a:avLst/>
          </a:prstGeom>
          <a:ln w="1524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05088" y="1938528"/>
            <a:ext cx="248716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Noto Sans"/>
              </a:rPr>
              <a:t>WHY THE </a:t>
            </a:r>
            <a:r>
              <a:rPr lang="en-IN" sz="1400" b="1" i="0">
                <a:solidFill>
                  <a:srgbClr val="00A9E0"/>
                </a:solidFill>
                <a:latin typeface="Noto Sans"/>
              </a:rPr>
              <a:t>DUOPOLY ENDURES</a:t>
            </a:r>
            <a:endParaRPr sz="1400" b="1" i="0">
              <a:solidFill>
                <a:srgbClr val="00A9E0"/>
              </a:solidFill>
              <a:latin typeface="Noto Sa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05088" y="2377440"/>
            <a:ext cx="25786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5587"/>
                </a:solidFill>
                <a:latin typeface="Noto Sans"/>
              </a:rPr>
              <a:t>Lilly  </a:t>
            </a:r>
            <a:r>
              <a:rPr sz="1400">
                <a:solidFill>
                  <a:srgbClr val="253746"/>
                </a:solidFill>
                <a:latin typeface="Noto Sans"/>
              </a:rPr>
              <a:t>Zepbound/Mounjaro + oral + triple agonist + capacity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3182112"/>
            <a:ext cx="25786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5587"/>
                </a:solidFill>
                <a:latin typeface="Noto Sans"/>
              </a:rPr>
              <a:t>Novo  </a:t>
            </a:r>
            <a:r>
              <a:rPr sz="1400">
                <a:solidFill>
                  <a:srgbClr val="253746"/>
                </a:solidFill>
                <a:latin typeface="Noto Sans"/>
              </a:rPr>
              <a:t>Wegovy/Ozempic + oral + amycretin + global obesity franchise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4050791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BFB3"/>
                </a:solidFill>
                <a:latin typeface="Noto Sans"/>
              </a:rPr>
              <a:t>WHAT CAN DISRUPT</a:t>
            </a:r>
          </a:p>
        </p:txBody>
      </p:sp>
      <p:sp>
        <p:nvSpPr>
          <p:cNvPr id="46" name="Oval 45"/>
          <p:cNvSpPr/>
          <p:nvPr/>
        </p:nvSpPr>
        <p:spPr>
          <a:xfrm>
            <a:off x="8723376" y="4498848"/>
            <a:ext cx="91440" cy="9144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15400" y="4416552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53746"/>
                </a:solidFill>
                <a:latin typeface="Noto Sans"/>
              </a:rPr>
              <a:t>Superior experience</a:t>
            </a:r>
          </a:p>
        </p:txBody>
      </p:sp>
      <p:sp>
        <p:nvSpPr>
          <p:cNvPr id="48" name="Oval 47"/>
          <p:cNvSpPr/>
          <p:nvPr/>
        </p:nvSpPr>
        <p:spPr>
          <a:xfrm>
            <a:off x="8723376" y="4828032"/>
            <a:ext cx="91440" cy="9144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15400" y="474573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53746"/>
                </a:solidFill>
                <a:latin typeface="Noto Sans"/>
              </a:rPr>
              <a:t>Oral economics</a:t>
            </a:r>
          </a:p>
        </p:txBody>
      </p:sp>
      <p:sp>
        <p:nvSpPr>
          <p:cNvPr id="50" name="Oval 49"/>
          <p:cNvSpPr/>
          <p:nvPr/>
        </p:nvSpPr>
        <p:spPr>
          <a:xfrm>
            <a:off x="8723376" y="5157216"/>
            <a:ext cx="91440" cy="9144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15400" y="507492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53746"/>
                </a:solidFill>
                <a:latin typeface="Noto Sans"/>
              </a:rPr>
              <a:t>Quality of weight loss</a:t>
            </a:r>
          </a:p>
        </p:txBody>
      </p:sp>
      <p:sp>
        <p:nvSpPr>
          <p:cNvPr id="52" name="Oval 51"/>
          <p:cNvSpPr/>
          <p:nvPr/>
        </p:nvSpPr>
        <p:spPr>
          <a:xfrm>
            <a:off x="8723376" y="5486400"/>
            <a:ext cx="91440" cy="9144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15400" y="540410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53746"/>
                </a:solidFill>
                <a:latin typeface="Noto Sans"/>
              </a:rPr>
              <a:t>Partnered scale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5623560"/>
            <a:ext cx="248716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100" b="0" i="1">
                <a:solidFill>
                  <a:srgbClr val="6F7C83"/>
                </a:solidFill>
                <a:latin typeface="Noto Sans"/>
              </a:rPr>
              <a:t>~78% combined 2030 share </a:t>
            </a:r>
            <a:r>
              <a:rPr sz="1100" b="0" i="1">
                <a:solidFill>
                  <a:srgbClr val="6F7C83"/>
                </a:solidFill>
                <a:latin typeface="Noto Sans"/>
              </a:rPr>
              <a:t>• </a:t>
            </a:r>
            <a:r>
              <a:rPr lang="en-IN" sz="1100" b="0" i="1">
                <a:solidFill>
                  <a:srgbClr val="6F7C83"/>
                </a:solidFill>
                <a:latin typeface="Noto Sans"/>
              </a:rPr>
              <a:t>GlobalData outlook</a:t>
            </a:r>
            <a:endParaRPr sz="1100" b="0" i="1">
              <a:solidFill>
                <a:srgbClr val="6F7C83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8DBE91A-D266-184A-66B8-0CB2FC151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3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BE91A-D266-184A-66B8-0CB2FC151D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3AA8-FE9C-4594-AE6D-4DABC73B4A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 lang="en-IN">
                <a:latin typeface="Noto Sans"/>
              </a:rPr>
              <a:t>Bridges</a:t>
            </a:r>
            <a:r>
              <a:rPr>
                <a:latin typeface="Noto Sans"/>
              </a:rPr>
              <a:t>, </a:t>
            </a:r>
            <a:r>
              <a:rPr lang="en-IN">
                <a:latin typeface="Noto Sans"/>
              </a:rPr>
              <a:t>negotiated pricing </a:t>
            </a:r>
            <a:r>
              <a:rPr>
                <a:latin typeface="Noto Sans"/>
              </a:rPr>
              <a:t>and </a:t>
            </a:r>
            <a:r>
              <a:rPr lang="en-US">
                <a:latin typeface="Noto Sans"/>
              </a:rPr>
              <a:t>utilization controls turn access into a managed benefit</a:t>
            </a:r>
            <a:endParaRPr>
              <a:latin typeface="Noto San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64594-7E85-4B72-A9C3-6CBBF7E5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 lang="en-US">
                <a:latin typeface="Noto Sans"/>
              </a:rPr>
              <a:t>Healthcare systems are shifting to controlled expansion</a:t>
            </a:r>
            <a:endParaRPr>
              <a:latin typeface="Noto Sa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A93B-6FCA-4C73-85A7-B6C46A53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>
                <a:latin typeface="Noto Sans"/>
              </a:rPr>
              <a:t>Sources in speaker notes  |  As of 24 Aug 2026  |  6</a:t>
            </a:r>
            <a:endParaRPr lang="en-US"/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200400"/>
            <a:ext cx="10021824" cy="0"/>
          </a:xfrm>
          <a:prstGeom prst="line">
            <a:avLst/>
          </a:prstGeom>
          <a:ln w="101600">
            <a:solidFill>
              <a:srgbClr val="D9EE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51560" y="2624328"/>
            <a:ext cx="1143000" cy="1143000"/>
          </a:xfrm>
          <a:prstGeom prst="ellipse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3" y="3822191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00A9E0"/>
                </a:solidFill>
                <a:latin typeface="Noto Sans"/>
              </a:rPr>
              <a:t>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3" y="4187952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53746"/>
                </a:solidFill>
                <a:latin typeface="Noto Sans"/>
              </a:rPr>
              <a:t>Affordability
Persistence</a:t>
            </a:r>
          </a:p>
        </p:txBody>
      </p:sp>
      <p:sp>
        <p:nvSpPr>
          <p:cNvPr id="16" name="Oval 15"/>
          <p:cNvSpPr/>
          <p:nvPr/>
        </p:nvSpPr>
        <p:spPr>
          <a:xfrm>
            <a:off x="3703320" y="2624328"/>
            <a:ext cx="1143000" cy="1143000"/>
          </a:xfrm>
          <a:prstGeom prst="ellipse">
            <a:avLst/>
          </a:prstGeom>
          <a:solidFill>
            <a:srgbClr val="00B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822191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00BFB3"/>
                </a:solidFill>
                <a:latin typeface="Noto Sans"/>
              </a:rPr>
              <a:t>PROVIDERS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4187952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53746"/>
                </a:solidFill>
                <a:latin typeface="Noto Sans"/>
              </a:rPr>
              <a:t>Capacity
Care pathways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624328"/>
            <a:ext cx="1143000" cy="1143000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3822191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005587"/>
                </a:solidFill>
                <a:latin typeface="Noto Sans"/>
              </a:rPr>
              <a:t>PAYERS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4187952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53746"/>
                </a:solidFill>
                <a:latin typeface="Noto Sans"/>
              </a:rPr>
              <a:t>Budget impact
Eligibility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9006840" y="2624328"/>
            <a:ext cx="1143000" cy="1143000"/>
          </a:xfrm>
          <a:prstGeom prst="ellipse">
            <a:avLst/>
          </a:prstGeom>
          <a:solidFill>
            <a:srgbClr val="130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3822191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30C55"/>
                </a:solidFill>
                <a:latin typeface="Noto Sans"/>
              </a:rPr>
              <a:t>PHARMA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4187952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53746"/>
                </a:solidFill>
                <a:latin typeface="Noto Sans"/>
              </a:rPr>
              <a:t>Net price
Outcomes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1920240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6F7C83"/>
                </a:solidFill>
                <a:latin typeface="Noto Sans"/>
              </a:rPr>
              <a:t>THE ACCESS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1847088"/>
            <a:ext cx="7223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5587"/>
                </a:solidFill>
                <a:latin typeface="Noto Sans"/>
              </a:rPr>
              <a:t>Lower net price  +  targeted eligibility  +  outcomes monitoring  +  lifestyle support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4983480"/>
            <a:ext cx="10698480" cy="0"/>
          </a:xfrm>
          <a:prstGeom prst="line">
            <a:avLst/>
          </a:prstGeom>
          <a:ln w="1524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8" y="5230368"/>
            <a:ext cx="13258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600" b="1" i="0">
                <a:solidFill>
                  <a:srgbClr val="00A9E0"/>
                </a:solidFill>
                <a:latin typeface="Noto Sans"/>
              </a:rPr>
              <a:t>$50/mo</a:t>
            </a:r>
            <a:endParaRPr sz="2600" b="1" i="0">
              <a:solidFill>
                <a:srgbClr val="00A9E0"/>
              </a:solidFill>
              <a:latin typeface="Noto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48255" y="5193792"/>
            <a:ext cx="21396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400" b="0" i="0">
                <a:solidFill>
                  <a:srgbClr val="253746"/>
                </a:solidFill>
                <a:latin typeface="Noto Sans"/>
              </a:rPr>
              <a:t>Medicare Bridge • Jul 2026–Dec 2027</a:t>
            </a:r>
            <a:endParaRPr sz="1400" b="0" i="0">
              <a:solidFill>
                <a:srgbClr val="253746"/>
              </a:solidFill>
              <a:latin typeface="Noto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53128" y="5230368"/>
            <a:ext cx="1325880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600" b="1" i="0">
                <a:solidFill>
                  <a:srgbClr val="00BFB3"/>
                </a:solidFill>
                <a:latin typeface="Noto Sans"/>
              </a:rPr>
              <a:t>13 states</a:t>
            </a:r>
            <a:endParaRPr sz="2600" b="1" i="0">
              <a:solidFill>
                <a:srgbClr val="00BFB3"/>
              </a:solidFill>
              <a:latin typeface="Noto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51576" y="5193792"/>
            <a:ext cx="21396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>
                <a:solidFill>
                  <a:srgbClr val="253746"/>
                </a:solidFill>
                <a:latin typeface="Noto Sans"/>
              </a:rPr>
              <a:t>Medicaid FFS obesity coverage • Jan 2026</a:t>
            </a:r>
            <a:endParaRPr sz="1400" b="0" i="0">
              <a:solidFill>
                <a:srgbClr val="253746"/>
              </a:solidFill>
              <a:latin typeface="Noto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56448" y="5230368"/>
            <a:ext cx="13258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600" b="1" i="0">
                <a:solidFill>
                  <a:srgbClr val="005587"/>
                </a:solidFill>
                <a:latin typeface="Noto Sans"/>
              </a:rPr>
              <a:t>~55%</a:t>
            </a:r>
            <a:endParaRPr sz="2600" b="1" i="0">
              <a:solidFill>
                <a:srgbClr val="005587"/>
              </a:solidFill>
              <a:latin typeface="Noto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54896" y="5193792"/>
            <a:ext cx="21396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0" i="0">
                <a:solidFill>
                  <a:srgbClr val="253746"/>
                </a:solidFill>
                <a:latin typeface="Noto Sans"/>
              </a:rPr>
              <a:t>commercial employers cover obesity GLP-1s</a:t>
            </a:r>
            <a:endParaRPr sz="1400" b="0" i="0">
              <a:solidFill>
                <a:srgbClr val="253746"/>
              </a:solidFill>
              <a:latin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8DBE91A-D266-184A-66B8-0CB2FC151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38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BE91A-D266-184A-66B8-0CB2FC151D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3AA8-FE9C-4594-AE6D-4DABC73B4A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4694" y="1081826"/>
            <a:ext cx="11338560" cy="402336"/>
          </a:xfrm>
        </p:spPr>
        <p:txBody>
          <a:bodyPr/>
          <a:lstStyle/>
          <a:p>
            <a:r>
              <a:rPr lang="en-IN">
                <a:latin typeface="Noto Sans"/>
              </a:rPr>
              <a:t>Value will </a:t>
            </a:r>
            <a:r>
              <a:rPr>
                <a:latin typeface="Noto Sans"/>
              </a:rPr>
              <a:t>accrue to platforms </a:t>
            </a:r>
            <a:r>
              <a:rPr lang="en-IN">
                <a:latin typeface="Noto Sans"/>
              </a:rPr>
              <a:t>integrating therapy</a:t>
            </a:r>
            <a:r>
              <a:rPr>
                <a:latin typeface="Noto Sans"/>
              </a:rPr>
              <a:t>, access and </a:t>
            </a:r>
            <a:r>
              <a:rPr lang="en-IN">
                <a:latin typeface="Noto Sans"/>
              </a:rPr>
              <a:t>chronic-care</a:t>
            </a:r>
            <a:r>
              <a:rPr>
                <a:latin typeface="Noto Sans"/>
              </a:rPr>
              <a:t> management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64594-7E85-4B72-A9C3-6CBBF7E5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" y="294468"/>
            <a:ext cx="11338560" cy="768263"/>
          </a:xfrm>
        </p:spPr>
        <p:txBody>
          <a:bodyPr vert="horz"/>
          <a:lstStyle/>
          <a:p>
            <a:r>
              <a:rPr>
                <a:latin typeface="Noto Sans"/>
              </a:rPr>
              <a:t>Obesity 2.0 </a:t>
            </a:r>
            <a:r>
              <a:rPr lang="en-IN">
                <a:latin typeface="Noto Sans"/>
              </a:rPr>
              <a:t>winners will own</a:t>
            </a:r>
            <a:r>
              <a:rPr>
                <a:latin typeface="Noto Sans"/>
              </a:rPr>
              <a:t> the chronic-care ecosystem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3A93B-6FCA-4C73-85A7-B6C46A53D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>
                <a:latin typeface="Noto Sans"/>
              </a:rPr>
              <a:t>Sources in speaker notes  |  As of 24 Aug 2026  |  </a:t>
            </a:r>
            <a:r>
              <a:rPr lang="en-IN">
                <a:latin typeface="Noto Sans"/>
              </a:rPr>
              <a:t>7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66928" y="193852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A9E0"/>
                </a:solidFill>
                <a:latin typeface="Noto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38528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5587"/>
                </a:solidFill>
                <a:latin typeface="Noto Sans"/>
              </a:rPr>
              <a:t>Reframe the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920240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Build a cardiometabolic platform—not a weight-loss franchise.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2496312"/>
            <a:ext cx="6912864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2688336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A9E0"/>
                </a:solidFill>
                <a:latin typeface="Not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88336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5587"/>
                </a:solidFill>
                <a:latin typeface="Noto Sans"/>
              </a:rPr>
              <a:t>Design for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70048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Make convenience, tolerability and quality of weight loss explicit product goals.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3246120"/>
            <a:ext cx="6912864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438144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A9E0"/>
                </a:solidFill>
                <a:latin typeface="Noto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38144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5587"/>
                </a:solidFill>
                <a:latin typeface="Noto Sans"/>
              </a:rPr>
              <a:t>Treat capacity as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419856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Manufacturing and direct-to-patient reach are commercial moats.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3995928"/>
            <a:ext cx="6912864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4187952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A9E0"/>
                </a:solidFill>
                <a:latin typeface="Noto Sa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8795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5587"/>
                </a:solidFill>
                <a:latin typeface="Noto Sans"/>
              </a:rPr>
              <a:t>Co-create payer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169664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Pair net-price flexibility with eligibility, outcomes evidence and care support.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4745736"/>
            <a:ext cx="6912864" cy="0"/>
          </a:xfrm>
          <a:prstGeom prst="line">
            <a:avLst/>
          </a:prstGeom>
          <a:ln w="12700">
            <a:solidFill>
              <a:srgbClr val="E6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4937760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A9E0"/>
                </a:solidFill>
                <a:latin typeface="Noto San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93776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5587"/>
                </a:solidFill>
                <a:latin typeface="Noto Sans"/>
              </a:rPr>
              <a:t>Preserve option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919472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53746"/>
                </a:solidFill>
                <a:latin typeface="Noto Sans"/>
              </a:rPr>
              <a:t>Partner across oral, amylin, muscle-sparing and precision modalities.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18120" y="1901952"/>
            <a:ext cx="0" cy="3877056"/>
          </a:xfrm>
          <a:prstGeom prst="line">
            <a:avLst/>
          </a:prstGeom>
          <a:ln w="25400">
            <a:solidFill>
              <a:srgbClr val="00A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38160" y="199339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BFB3"/>
                </a:solidFill>
                <a:latin typeface="Noto Sans"/>
              </a:rPr>
              <a:t>CLOSING 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487168"/>
            <a:ext cx="3127248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30C55"/>
                </a:solidFill>
                <a:latin typeface="Noto Sans"/>
              </a:rPr>
              <a:t>Obesity 2.0 is a reinvention of chronic disease management—not a weight-loss story.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937760"/>
            <a:ext cx="309067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53746"/>
                </a:solidFill>
                <a:latin typeface="Noto Sans"/>
              </a:rPr>
              <a:t>Strategic priority: win the ecosystem while the category architecture is still forming.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QVIA_V4.0.0">
  <a:themeElements>
    <a:clrScheme name="IQVIA_2026">
      <a:dk1>
        <a:srgbClr val="2B3A42"/>
      </a:dk1>
      <a:lt1>
        <a:srgbClr val="FFFFFF"/>
      </a:lt1>
      <a:dk2>
        <a:srgbClr val="140B42"/>
      </a:dk2>
      <a:lt2>
        <a:srgbClr val="F3F3F3"/>
      </a:lt2>
      <a:accent1>
        <a:srgbClr val="00A3E0"/>
      </a:accent1>
      <a:accent2>
        <a:srgbClr val="005587"/>
      </a:accent2>
      <a:accent3>
        <a:srgbClr val="00BFB3"/>
      </a:accent3>
      <a:accent4>
        <a:srgbClr val="008F86"/>
      </a:accent4>
      <a:accent5>
        <a:srgbClr val="43B02A"/>
      </a:accent5>
      <a:accent6>
        <a:srgbClr val="027223"/>
      </a:accent6>
      <a:hlink>
        <a:srgbClr val="00A3E0"/>
      </a:hlink>
      <a:folHlink>
        <a:srgbClr val="005587"/>
      </a:folHlink>
    </a:clrScheme>
    <a:fontScheme name="IQVIA_2026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 - IQVIA PowerPoint Template" id="{681B8FA6-783C-4064-AD29-ED915C0E4723}" vid="{9C6AE803-A862-4FB3-AAE9-E4D8839A59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07D81026105D4A96CC549AF399F9EC" ma:contentTypeVersion="17" ma:contentTypeDescription="Create a new document." ma:contentTypeScope="" ma:versionID="fa4430dc4c21f516a0ea8727717e8185">
  <xsd:schema xmlns:xsd="http://www.w3.org/2001/XMLSchema" xmlns:xs="http://www.w3.org/2001/XMLSchema" xmlns:p="http://schemas.microsoft.com/office/2006/metadata/properties" xmlns:ns2="922c0e8c-949e-4f82-b5d7-f80c61f19baa" xmlns:ns3="92883777-d4b3-49f8-b75c-8342c7c93585" xmlns:ns4="fbbcf6ee-9fbd-400c-b917-9fe3efcb3dea" targetNamespace="http://schemas.microsoft.com/office/2006/metadata/properties" ma:root="true" ma:fieldsID="575a63fb06306787fbe1e1f86f8fb88e" ns2:_="" ns3:_="" ns4:_="">
    <xsd:import namespace="922c0e8c-949e-4f82-b5d7-f80c61f19baa"/>
    <xsd:import namespace="92883777-d4b3-49f8-b75c-8342c7c93585"/>
    <xsd:import namespace="fbbcf6ee-9fbd-400c-b917-9fe3efcb3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2c0e8c-949e-4f82-b5d7-f80c61f19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4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83777-d4b3-49f8-b75c-8342c7c935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cf6ee-9fbd-400c-b917-9fe3efcb3de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c1d28bd-dd95-4e24-9562-4d602a3f80e3}" ma:internalName="TaxCatchAll" ma:showField="CatchAllData" ma:web="92883777-d4b3-49f8-b75c-8342c7c935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bcf6ee-9fbd-400c-b917-9fe3efcb3dea" xsi:nil="true"/>
    <lcf76f155ced4ddcb4097134ff3c332f xmlns="922c0e8c-949e-4f82-b5d7-f80c61f19ba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2EF0716-964B-4EA4-9C8D-563840F44F99}">
  <ds:schemaRefs>
    <ds:schemaRef ds:uri="922c0e8c-949e-4f82-b5d7-f80c61f19baa"/>
    <ds:schemaRef ds:uri="92883777-d4b3-49f8-b75c-8342c7c93585"/>
    <ds:schemaRef ds:uri="fbbcf6ee-9fbd-400c-b917-9fe3efcb3d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56E5AA-B6DE-4310-B322-892C4680C8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66C6A5-F902-427E-9089-4B03666BF5BC}">
  <ds:schemaRefs>
    <ds:schemaRef ds:uri="922c0e8c-949e-4f82-b5d7-f80c61f19baa"/>
    <ds:schemaRef ds:uri="92883777-d4b3-49f8-b75c-8342c7c93585"/>
    <ds:schemaRef ds:uri="fbbcf6ee-9fbd-400c-b917-9fe3efcb3d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84</TotalTime>
  <Words>2345</Words>
  <Application>Microsoft Office PowerPoint</Application>
  <PresentationFormat>Widescreen</PresentationFormat>
  <Paragraphs>237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IQVIA_V4.0.0</vt:lpstr>
      <vt:lpstr>Obesity 2.0: The $200 Billion Opportunity</vt:lpstr>
      <vt:lpstr>Underappreciated opportunity; $200B remains a bull case</vt:lpstr>
      <vt:lpstr>Overhyped near term, underappreciated over the decade</vt:lpstr>
      <vt:lpstr>2030 forecasts differ because market definitions differ</vt:lpstr>
      <vt:lpstr>After GLP-1, differentiation moves beyond efficacy</vt:lpstr>
      <vt:lpstr>Lilly and Novo may still control ~78% of the market in 2030</vt:lpstr>
      <vt:lpstr>Healthcare systems are shifting to controlled expansion</vt:lpstr>
      <vt:lpstr>Obesity 2.0 winners will own the chronic-care ecosystem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Kulkarni, Tanvi</dc:creator>
  <cp:lastModifiedBy>Kulkarni, Tanvi</cp:lastModifiedBy>
  <cp:revision>2</cp:revision>
  <cp:lastPrinted>2019-08-20T20:33:24Z</cp:lastPrinted>
  <dcterms:created xsi:type="dcterms:W3CDTF">2026-08-24T16:41:42Z</dcterms:created>
  <dcterms:modified xsi:type="dcterms:W3CDTF">2026-08-31T04:10:15Z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0x0101009B07D81026105D4A96CC549AF399F9EC</vt:lpwstr>
  </property>
  <property fmtid="{D5CDD505-2E9C-101B-9397-08002B2CF9AE}" pid="3" name="MediaServiceImageTags">
    <vt:lpwstr/>
  </property>
</Properties>
</file>